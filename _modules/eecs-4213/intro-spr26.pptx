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70" r:id="rId2"/>
    <p:sldId id="264" r:id="rId3"/>
    <p:sldId id="291" r:id="rId4"/>
    <p:sldId id="292" r:id="rId5"/>
    <p:sldId id="293" r:id="rId6"/>
    <p:sldId id="294" r:id="rId7"/>
    <p:sldId id="282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ＭＳ Ｐゴシック" panose="020B060007020508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58"/>
  </p:normalViewPr>
  <p:slideViewPr>
    <p:cSldViewPr>
      <p:cViewPr varScale="1">
        <p:scale>
          <a:sx n="120" d="100"/>
          <a:sy n="120" d="100"/>
        </p:scale>
        <p:origin x="16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EC8C5F-1F70-AC28-7793-C862BADD6B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98F43-92F4-CACE-9E3D-88A6338D14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fld id="{39D14349-0880-C141-8F35-FF06182B9908}" type="datetimeFigureOut">
              <a:rPr lang="en-US"/>
              <a:pPr>
                <a:defRPr/>
              </a:pPr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8A262-F2CD-18B8-5FB0-4E4AB39BF1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DB1A9-F3F2-A4A6-7575-0890FE4111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ED808F7-9BC2-BF4F-919F-2F0BE9E23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A69F4E9-03F2-348F-A2F6-89E16880E3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156B8A7-2CBD-C42F-7465-30A76D27EF7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664677F-B94F-2F5B-7F44-502DFB19B94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A73E2AA6-FED1-DBFF-A801-20BC2E61C2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E2FB61F4-1D2E-BCE5-087B-478F6CF4BD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319E5D48-ABF3-82C6-0C8B-1974B796FE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CDAE25-5A03-474B-A023-A50F5E20F2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954AF39-5F40-716F-2A05-EDE06DF966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411E73-72E4-512F-E681-7CAA8028D8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80CBAE93-06AC-4832-A6F6-170F7BEDB2E9}" type="datetime3">
              <a:rPr lang="en-US" smtClean="0"/>
              <a:pPr>
                <a:defRPr/>
              </a:pPr>
              <a:t>12 January 2026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61EFC1-0971-C8A5-296E-BF43E15F2B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— Instructions: Language of the Computer</a:t>
            </a:r>
          </a:p>
        </p:txBody>
      </p:sp>
      <p:sp>
        <p:nvSpPr>
          <p:cNvPr id="10244" name="Rectangle 7">
            <a:extLst>
              <a:ext uri="{FF2B5EF4-FFF2-40B4-BE49-F238E27FC236}">
                <a16:creationId xmlns:a16="http://schemas.microsoft.com/office/drawing/2014/main" id="{3AFF1833-DE1C-CE24-A1E9-ABD3E16BD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fld id="{2F6EC936-150E-254A-A105-47D0486DF628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87A5536-8229-D766-5795-246961702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FA986C2D-96C8-BED4-4760-6F8FEAE36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Times New Roman" panose="02020603050405020304" pitchFamily="18" charset="0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1580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474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6213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4550" y="1524000"/>
            <a:ext cx="36512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6512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03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98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576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75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329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993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149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5725" y="533400"/>
            <a:ext cx="1863725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4550" y="533400"/>
            <a:ext cx="5438775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576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nnessy_cover-v2 (Final).png">
            <a:extLst>
              <a:ext uri="{FF2B5EF4-FFF2-40B4-BE49-F238E27FC236}">
                <a16:creationId xmlns:a16="http://schemas.microsoft.com/office/drawing/2014/main" id="{96CB8BAB-924F-54D4-5864-2EEE57B2E9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388" y="1412875"/>
            <a:ext cx="1871662" cy="230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FC9AE5CB-B3AA-B2E8-0EA7-E0550D1761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algn="ctr"/>
            <a:endParaRPr lang="en-GB" alt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2B5185A-1912-FDBE-0DDC-62E666090A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5" name="Picture 17" descr="MK_logo2">
            <a:extLst>
              <a:ext uri="{FF2B5EF4-FFF2-40B4-BE49-F238E27FC236}">
                <a16:creationId xmlns:a16="http://schemas.microsoft.com/office/drawing/2014/main" id="{14407A91-DE84-926D-B53F-2C7E2137FC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3C328606-2D21-F719-E88B-C5B38F35B4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4D78E040-0F4C-B595-65F7-5E493B4FFD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BECB284C-3E5C-9EA4-11F3-1729AB353B2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A6E7E418-B1BF-45CD-3DDD-FEAEA9B4F5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" name="Rectangle 39">
            <a:extLst>
              <a:ext uri="{FF2B5EF4-FFF2-40B4-BE49-F238E27FC236}">
                <a16:creationId xmlns:a16="http://schemas.microsoft.com/office/drawing/2014/main" id="{1A8C9CD2-9D70-6118-D7BF-946213C435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11" name="Picture 41" descr="MK_logo2">
            <a:extLst>
              <a:ext uri="{FF2B5EF4-FFF2-40B4-BE49-F238E27FC236}">
                <a16:creationId xmlns:a16="http://schemas.microsoft.com/office/drawing/2014/main" id="{0CA221E1-6BE3-719F-0A0B-AB6AEBAB2C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42">
            <a:extLst>
              <a:ext uri="{FF2B5EF4-FFF2-40B4-BE49-F238E27FC236}">
                <a16:creationId xmlns:a16="http://schemas.microsoft.com/office/drawing/2014/main" id="{9513BDB5-9FBE-C009-6C9E-87AC2D257E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algn="r"/>
            <a:fld id="{A27C8B32-228F-C046-BACE-A8ACE06EAC22}" type="slidenum">
              <a:rPr lang="en-AU" altLang="en-US" sz="1200" b="1">
                <a:latin typeface="Arial" panose="020B0604020202020204" pitchFamily="34" charset="0"/>
              </a:rPr>
              <a:pPr algn="r"/>
              <a:t>‹#›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13" name="Rectangle 40">
            <a:extLst>
              <a:ext uri="{FF2B5EF4-FFF2-40B4-BE49-F238E27FC236}">
                <a16:creationId xmlns:a16="http://schemas.microsoft.com/office/drawing/2014/main" id="{69FD3776-4230-8D9D-48CA-1C6E18C8D5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AU"/>
              <a:t>Copyright © 2019, Elsevier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3618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297EA0E-F566-1AD9-E570-DD67DA61F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4550" y="1524000"/>
            <a:ext cx="74549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129EF2-4110-27A8-743C-E678C6D51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44550" y="533400"/>
            <a:ext cx="745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637EFA-6E8D-99C2-1864-A53C4BD1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404813"/>
            <a:ext cx="7904162" cy="6048375"/>
          </a:xfrm>
          <a:prstGeom prst="rect">
            <a:avLst/>
          </a:prstGeom>
          <a:noFill/>
          <a:ln w="47625" cmpd="thinThick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0E7FE9F2-3F76-7628-E216-B097A4773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50" y="1295400"/>
            <a:ext cx="7454900" cy="0"/>
          </a:xfrm>
          <a:prstGeom prst="line">
            <a:avLst/>
          </a:prstGeom>
          <a:noFill/>
          <a:ln w="25400">
            <a:solidFill>
              <a:srgbClr val="0F286A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4A5E82-ADD3-936A-1AC1-E25A0B615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2362200"/>
            <a:ext cx="4291013" cy="3048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30055" name="Text Box 7">
            <a:extLst>
              <a:ext uri="{FF2B5EF4-FFF2-40B4-BE49-F238E27FC236}">
                <a16:creationId xmlns:a16="http://schemas.microsoft.com/office/drawing/2014/main" id="{D3F51C43-406F-DA9C-7DF9-1CB2261C7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6419850"/>
            <a:ext cx="2211388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9pPr>
          </a:lstStyle>
          <a:p>
            <a:pPr algn="r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en-US" sz="1200">
                <a:solidFill>
                  <a:schemeClr val="hlink"/>
                </a:solidFill>
                <a:latin typeface="Arial" charset="0"/>
              </a:rPr>
              <a:t>Computer System Design Lab</a:t>
            </a:r>
            <a:endParaRPr lang="en-US" altLang="en-US" sz="2000">
              <a:solidFill>
                <a:schemeClr val="hlink"/>
              </a:solidFill>
            </a:endParaRPr>
          </a:p>
        </p:txBody>
      </p:sp>
      <p:sp>
        <p:nvSpPr>
          <p:cNvPr id="130056" name="Text Box 8">
            <a:extLst>
              <a:ext uri="{FF2B5EF4-FFF2-40B4-BE49-F238E27FC236}">
                <a16:creationId xmlns:a16="http://schemas.microsoft.com/office/drawing/2014/main" id="{52D3AA7D-0F94-0CC1-E5D0-174EFB146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75" y="6492875"/>
            <a:ext cx="36195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>
              <a:defRPr/>
            </a:pPr>
            <a:fld id="{0C739C28-C2EB-B040-A6F7-C6EBB5242107}" type="slidenum">
              <a:rPr lang="en-US" altLang="en-US" sz="1200" smtClean="0"/>
              <a:pPr>
                <a:defRPr/>
              </a:pPr>
              <a:t>‹#›</a:t>
            </a:fld>
            <a:endParaRPr lang="en-US" altLang="en-US" sz="1200"/>
          </a:p>
        </p:txBody>
      </p:sp>
      <p:pic>
        <p:nvPicPr>
          <p:cNvPr id="1033" name="Picture 9" descr="&#13;ArkLogo_2.png                                                  00072A12Macintosh HD                   C3BEAED8:">
            <a:extLst>
              <a:ext uri="{FF2B5EF4-FFF2-40B4-BE49-F238E27FC236}">
                <a16:creationId xmlns:a16="http://schemas.microsoft.com/office/drawing/2014/main" id="{323ABDCA-70AD-3A4D-9E5C-7CF57C905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5864225"/>
            <a:ext cx="93662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pitchFamily="-110" charset="-128"/>
          <a:cs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  <a:cs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>
          <a:solidFill>
            <a:schemeClr val="tx1"/>
          </a:solidFill>
          <a:latin typeface="+mn-lt"/>
          <a:ea typeface="ＭＳ Ｐゴシック" pitchFamily="-110" charset="-128"/>
          <a:cs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  <a:ea typeface="ＭＳ Ｐゴシック" pitchFamily="-110" charset="-128"/>
          <a:cs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40">
            <a:extLst>
              <a:ext uri="{FF2B5EF4-FFF2-40B4-BE49-F238E27FC236}">
                <a16:creationId xmlns:a16="http://schemas.microsoft.com/office/drawing/2014/main" id="{8E95C4B9-EDA9-4B0F-5F3B-82D002BDB5A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endParaRPr lang="en-AU" altLang="en-US"/>
          </a:p>
        </p:txBody>
      </p:sp>
      <p:sp>
        <p:nvSpPr>
          <p:cNvPr id="9218" name="Rectangle 11">
            <a:extLst>
              <a:ext uri="{FF2B5EF4-FFF2-40B4-BE49-F238E27FC236}">
                <a16:creationId xmlns:a16="http://schemas.microsoft.com/office/drawing/2014/main" id="{5FAA10F9-0D2E-0D56-6B21-0F9830967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1143000"/>
            <a:ext cx="45942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r>
              <a:rPr lang="en-AU" altLang="en-US" sz="4000">
                <a:solidFill>
                  <a:srgbClr val="000099"/>
                </a:solidFill>
                <a:latin typeface="Arial" panose="020B0604020202020204" pitchFamily="34" charset="0"/>
              </a:rPr>
              <a:t>Welcome to Class !</a:t>
            </a:r>
            <a:endParaRPr lang="en-GB" altLang="en-US" sz="40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12">
            <a:extLst>
              <a:ext uri="{FF2B5EF4-FFF2-40B4-BE49-F238E27FC236}">
                <a16:creationId xmlns:a16="http://schemas.microsoft.com/office/drawing/2014/main" id="{1276F33A-E9F3-7874-6AFB-B6F16260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060575"/>
            <a:ext cx="58324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r>
              <a:rPr lang="en-AU" altLang="en-US">
                <a:solidFill>
                  <a:srgbClr val="0066FF"/>
                </a:solidFill>
                <a:latin typeface="Arial" panose="020B0604020202020204" pitchFamily="34" charset="0"/>
              </a:rPr>
              <a:t>Fundamentals of Quantitative Design and Analysis</a:t>
            </a:r>
            <a:endParaRPr lang="en-GB" altLang="en-US">
              <a:solidFill>
                <a:srgbClr val="0066FF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Text Box 13">
            <a:extLst>
              <a:ext uri="{FF2B5EF4-FFF2-40B4-BE49-F238E27FC236}">
                <a16:creationId xmlns:a16="http://schemas.microsoft.com/office/drawing/2014/main" id="{F51860A6-C550-C94F-2050-76AF0BECD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238" y="-100013"/>
            <a:ext cx="4502150" cy="89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800">
                <a:solidFill>
                  <a:schemeClr val="bg1"/>
                </a:solidFill>
              </a:rPr>
              <a:t>Computer Architecture</a:t>
            </a:r>
          </a:p>
          <a:p>
            <a:pPr algn="ctr"/>
            <a:r>
              <a:rPr lang="en-US" altLang="en-US" sz="2000">
                <a:solidFill>
                  <a:schemeClr val="bg1"/>
                </a:solidFill>
                <a:latin typeface="Arial" panose="020B0604020202020204" pitchFamily="34" charset="0"/>
              </a:rPr>
              <a:t>A Quantitative Approach, Sixth Edition</a:t>
            </a:r>
            <a:endParaRPr lang="en-GB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TextBox 1">
            <a:extLst>
              <a:ext uri="{FF2B5EF4-FFF2-40B4-BE49-F238E27FC236}">
                <a16:creationId xmlns:a16="http://schemas.microsoft.com/office/drawing/2014/main" id="{28DF8061-B6BC-640F-BBD6-B403DD3CA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360" y="3276600"/>
            <a:ext cx="398217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 dirty="0"/>
              <a:t>David Andrews</a:t>
            </a:r>
          </a:p>
          <a:p>
            <a:pPr algn="ctr"/>
            <a:r>
              <a:rPr lang="en-US" altLang="en-US" sz="3600" dirty="0"/>
              <a:t>Rm. 527 JBHT</a:t>
            </a:r>
          </a:p>
          <a:p>
            <a:pPr algn="ctr"/>
            <a:r>
              <a:rPr lang="en-US" altLang="en-US" sz="3600" dirty="0" err="1"/>
              <a:t>dandrews@uark.edu</a:t>
            </a:r>
            <a:endParaRPr lang="en-US" altLang="en-US" sz="3600" dirty="0"/>
          </a:p>
        </p:txBody>
      </p:sp>
      <p:sp>
        <p:nvSpPr>
          <p:cNvPr id="9222" name="TextBox 7">
            <a:extLst>
              <a:ext uri="{FF2B5EF4-FFF2-40B4-BE49-F238E27FC236}">
                <a16:creationId xmlns:a16="http://schemas.microsoft.com/office/drawing/2014/main" id="{4B78046F-B97F-9D4F-668D-FEC32D3B7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450" y="6324600"/>
            <a:ext cx="6943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r>
              <a:rPr lang="en-US" altLang="en-US"/>
              <a:t>Copyright © 2019, Elsevier Inc. All rights reserved.</a:t>
            </a:r>
            <a:endParaRPr lang="en-A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1D71C0C3-A03A-C678-EE2E-DF3C0DB57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Programmatics</a:t>
            </a:r>
            <a:endParaRPr lang="en-US" altLang="en-US" sz="20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DB20816-A205-8BF2-9C4F-A1ED3E481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83058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Grading: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Midterm Exam		  March 18</a:t>
            </a:r>
            <a:r>
              <a:rPr lang="en-US" altLang="en-US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th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		40%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Final (not comprehensive) May 4</a:t>
            </a:r>
            <a:r>
              <a:rPr lang="en-US" altLang="en-US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th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3:00-5:00	40%	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Homework		 			20%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Homework is important !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Where you mistakes and learn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All </a:t>
            </a:r>
            <a:r>
              <a:rPr lang="en-US" altLang="en-US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Homeworks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Equal Weight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Academic Honesty: Do Your Own Work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Read University Policy on Academic Honesty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Exams Cover ~1/2 Semester (not comprehensive but do materials build)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>
            <a:extLst>
              <a:ext uri="{FF2B5EF4-FFF2-40B4-BE49-F238E27FC236}">
                <a16:creationId xmlns:a16="http://schemas.microsoft.com/office/drawing/2014/main" id="{E6BD32E5-B025-A38E-2847-11313E8C4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Programmatics</a:t>
            </a:r>
          </a:p>
        </p:txBody>
      </p:sp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50A8F3FA-66F1-28B2-42B4-22C58BBFF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147050" cy="57150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Class Materials Will Be On</a:t>
            </a:r>
            <a:r>
              <a:rPr lang="en-US" altLang="en-US" sz="2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Blackboard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Office Hours: </a:t>
            </a:r>
          </a:p>
          <a:p>
            <a:pPr lvl="1"/>
            <a:r>
              <a:rPr lang="en-US" altLang="en-US" sz="16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Me: 		Rm 527 JBHT  	M-W-F 2:00 – 3</a:t>
            </a:r>
            <a:r>
              <a:rPr lang="en-US" altLang="en-US" sz="16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:00</a:t>
            </a:r>
          </a:p>
          <a:p>
            <a:pPr lvl="1"/>
            <a:r>
              <a:rPr lang="en-US" altLang="en-US" sz="16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William Burroughs:   TA Bullpen	M-W-F 11:00 -12:00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Algorithm for asking questions: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Homework is assigned one week in advance giving you plenty of time to get answers.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en-US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st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 Ask in Class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en-US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nd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  Check discussion thread on Blackboard</a:t>
            </a:r>
            <a:r>
              <a:rPr lang="en-US" altLang="en-US" sz="16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.  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If already posted – done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If not posted then post so others can benefit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3</a:t>
            </a:r>
            <a:r>
              <a:rPr lang="en-US" altLang="en-US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rd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 If you need more info or want to talk come to office hours.   If you can’t make office </a:t>
            </a:r>
            <a:r>
              <a:rPr lang="en-US" altLang="en-US" dirty="0" err="1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hrs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  <a:sym typeface="Wingdings" pitchFamily="2" charset="2"/>
              </a:rPr>
              <a:t> email/talk with me to set up alternate time</a:t>
            </a:r>
          </a:p>
          <a:p>
            <a:pPr lvl="1"/>
            <a:endParaRPr lang="en-US" altLang="en-US" sz="16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4">
            <a:extLst>
              <a:ext uri="{FF2B5EF4-FFF2-40B4-BE49-F238E27FC236}">
                <a16:creationId xmlns:a16="http://schemas.microsoft.com/office/drawing/2014/main" id="{50C64676-0B1E-E80D-DFCC-2F1E9254C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to do well in this course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3C11E798-9CB7-02DB-0268-1C43650DE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4550" y="1524000"/>
            <a:ext cx="768985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Read Assignment Before Lecture</a:t>
            </a:r>
          </a:p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Attend Every Class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Ask Questions in Class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Take Notes In Class</a:t>
            </a:r>
          </a:p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Rewrite Your Notes At Home and Cross check with Textbook</a:t>
            </a:r>
          </a:p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Read/Attempt Homework Assignments Early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Ask Questions before Due Date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Turn in Every Homework</a:t>
            </a:r>
          </a:p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…..and of coarse Ace Exams 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sym typeface="Wingdings" pitchFamily="2" charset="2"/>
              </a:rPr>
              <a:t> </a:t>
            </a: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Tahoma" charset="0"/>
              <a:ea typeface="ＭＳ Ｐゴシック" charset="0"/>
            </a:endParaRPr>
          </a:p>
          <a:p>
            <a:pPr eaLnBrk="1" hangingPunct="1">
              <a:defRPr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Tahoma" charset="0"/>
              <a:ea typeface="ＭＳ Ｐゴシック" charset="0"/>
            </a:endParaRPr>
          </a:p>
        </p:txBody>
      </p:sp>
      <p:sp>
        <p:nvSpPr>
          <p:cNvPr id="6147" name="Slide Number Placeholder 1">
            <a:extLst>
              <a:ext uri="{FF2B5EF4-FFF2-40B4-BE49-F238E27FC236}">
                <a16:creationId xmlns:a16="http://schemas.microsoft.com/office/drawing/2014/main" id="{E25A4DC4-BDA2-2CDB-BBC6-5695BDCFC8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86800" y="6477000"/>
            <a:ext cx="381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fld id="{6DBFD6AC-B802-A743-BA62-23A5599AD3D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4">
            <a:extLst>
              <a:ext uri="{FF2B5EF4-FFF2-40B4-BE49-F238E27FC236}">
                <a16:creationId xmlns:a16="http://schemas.microsoft.com/office/drawing/2014/main" id="{50C64676-0B1E-E80D-DFCC-2F1E9254C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NOT to do well in this course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3C11E798-9CB7-02DB-0268-1C43650DE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4550" y="1524000"/>
            <a:ext cx="7689850" cy="4572000"/>
          </a:xfrm>
        </p:spPr>
        <p:txBody>
          <a:bodyPr/>
          <a:lstStyle/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Skip lectures…. (You learn more Dickson street 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  <a:sym typeface="Wingdings" pitchFamily="2" charset="2"/>
              </a:rPr>
              <a:t> )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  <a:sym typeface="Wingdings" pitchFamily="2" charset="2"/>
              </a:rPr>
              <a:t>Don’t r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ead your textbook (on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ly review lecture slides)</a:t>
            </a:r>
          </a:p>
          <a:p>
            <a:pPr lvl="1" eaLnBrk="1" hangingPunct="1">
              <a:defRPr/>
            </a:pPr>
            <a:r>
              <a:rPr lang="en-US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Dont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 spend time doing homework</a:t>
            </a:r>
          </a:p>
          <a:p>
            <a:pPr lvl="2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Wait until the night before to read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Don’t ask questions in class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Don’t discuss concepts with other students</a:t>
            </a:r>
          </a:p>
          <a:p>
            <a:pPr lvl="2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But all work handed in must be your own !</a:t>
            </a:r>
          </a:p>
          <a:p>
            <a:pPr marL="0" indent="0" eaLnBrk="1" hangingPunct="1">
              <a:buNone/>
              <a:defRPr/>
            </a:pPr>
            <a:endParaRPr lang="en-US" sz="2400" dirty="0">
              <a:effectLst>
                <a:outerShdw blurRad="38100" dist="38100" dir="2700000" algn="tl">
                  <a:srgbClr val="DDDDDD"/>
                </a:outerShdw>
              </a:effectLst>
              <a:latin typeface="Tahoma" charset="0"/>
              <a:ea typeface="ＭＳ Ｐゴシック" charset="0"/>
            </a:endParaRPr>
          </a:p>
          <a:p>
            <a:pPr marL="0" indent="0" algn="ctr" eaLnBrk="1" hangingPunct="1">
              <a:buNone/>
              <a:defRPr/>
            </a:pPr>
            <a:r>
              <a:rPr lang="en-US" sz="2400" i="1" u="sng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Must be your work you hand in</a:t>
            </a:r>
            <a:r>
              <a:rPr lang="en-US" sz="2400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. Posting questions for others to solve for you and handing in == cheating.  Not worth it !</a:t>
            </a:r>
          </a:p>
        </p:txBody>
      </p:sp>
      <p:sp>
        <p:nvSpPr>
          <p:cNvPr id="6147" name="Slide Number Placeholder 1">
            <a:extLst>
              <a:ext uri="{FF2B5EF4-FFF2-40B4-BE49-F238E27FC236}">
                <a16:creationId xmlns:a16="http://schemas.microsoft.com/office/drawing/2014/main" id="{E25A4DC4-BDA2-2CDB-BBC6-5695BDCFC8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86800" y="6477000"/>
            <a:ext cx="381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fld id="{6DBFD6AC-B802-A743-BA62-23A5599AD3D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59569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4">
            <a:extLst>
              <a:ext uri="{FF2B5EF4-FFF2-40B4-BE49-F238E27FC236}">
                <a16:creationId xmlns:a16="http://schemas.microsoft.com/office/drawing/2014/main" id="{50C64676-0B1E-E80D-DFCC-2F1E9254C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ChatGPT</a:t>
            </a: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,</a:t>
            </a:r>
            <a:r>
              <a:rPr lang="en-US" altLang="en-US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Chegg, </a:t>
            </a:r>
            <a:r>
              <a:rPr lang="en-US" altLang="en-US" dirty="0" err="1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etc</a:t>
            </a: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…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3C11E798-9CB7-02DB-0268-1C43650DE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4550" y="1219200"/>
            <a:ext cx="791845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Homework assignments are your work: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not ChatGPT’s.   If I want </a:t>
            </a:r>
            <a:r>
              <a:rPr lang="en-US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ChatGPT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 to answer my homework questions I will ask it myself. </a:t>
            </a:r>
          </a:p>
          <a:p>
            <a:pPr lvl="1"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Not Chegg’s.   If I want experts to answer my homework questions I will ask them myself.</a:t>
            </a:r>
          </a:p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Bottom Line: </a:t>
            </a:r>
            <a:r>
              <a:rPr lang="en-US" sz="2400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I want to see your thought process and copying answers from </a:t>
            </a:r>
            <a:r>
              <a:rPr lang="en-US" sz="2400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ChatGPT</a:t>
            </a:r>
            <a:r>
              <a:rPr lang="en-US" sz="2400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, Chegg, or any other website or person will be considered as academic dishonesty as per University Academic Integrity Policy at https://</a:t>
            </a:r>
            <a:r>
              <a:rPr lang="en-US" sz="2400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honesty.uark.edu</a:t>
            </a:r>
            <a:r>
              <a:rPr lang="en-US" sz="2400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/policy/.  </a:t>
            </a:r>
          </a:p>
          <a:p>
            <a:pPr marL="0" indent="0" eaLnBrk="1" hangingPunct="1">
              <a:buNone/>
              <a:defRPr/>
            </a:pPr>
            <a:endParaRPr lang="en-US" sz="2400" i="1" u="sng" dirty="0">
              <a:effectLst>
                <a:outerShdw blurRad="38100" dist="38100" dir="2700000" algn="tl">
                  <a:srgbClr val="DDDDDD"/>
                </a:outerShdw>
              </a:effectLst>
              <a:latin typeface="Tahoma" charset="0"/>
              <a:ea typeface="ＭＳ Ｐゴシック" charset="0"/>
            </a:endParaRPr>
          </a:p>
          <a:p>
            <a:pPr marL="0" indent="0" eaLnBrk="1" hangingPunct="1">
              <a:buNone/>
              <a:defRPr/>
            </a:pPr>
            <a:r>
              <a:rPr lang="en-US" sz="2400" i="1" u="sng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It is your </a:t>
            </a:r>
            <a:r>
              <a:rPr lang="en-US" sz="2400" i="1" u="sng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responsiblity</a:t>
            </a:r>
            <a:r>
              <a:rPr lang="en-US" sz="2400" i="1" u="sng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 to read and understand the policy.</a:t>
            </a:r>
          </a:p>
          <a:p>
            <a:pPr marL="0" indent="0" eaLnBrk="1" hangingPunct="1">
              <a:buNone/>
              <a:defRPr/>
            </a:pPr>
            <a:endParaRPr lang="en-US" i="1" u="sng" dirty="0">
              <a:effectLst>
                <a:outerShdw blurRad="38100" dist="38100" dir="2700000" algn="tl">
                  <a:srgbClr val="DDDDDD"/>
                </a:outerShdw>
              </a:effectLst>
              <a:latin typeface="Tahoma" charset="0"/>
              <a:ea typeface="ＭＳ Ｐゴシック" charset="0"/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ahoma" charset="0"/>
                <a:ea typeface="ＭＳ Ｐゴシック" charset="0"/>
              </a:rPr>
              <a:t> </a:t>
            </a:r>
          </a:p>
          <a:p>
            <a:pPr marL="0" indent="0" eaLnBrk="1" hangingPunct="1">
              <a:buNone/>
              <a:defRPr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Tahoma" charset="0"/>
              <a:ea typeface="ＭＳ Ｐゴシック" charset="0"/>
            </a:endParaRPr>
          </a:p>
        </p:txBody>
      </p:sp>
      <p:sp>
        <p:nvSpPr>
          <p:cNvPr id="6147" name="Slide Number Placeholder 1">
            <a:extLst>
              <a:ext uri="{FF2B5EF4-FFF2-40B4-BE49-F238E27FC236}">
                <a16:creationId xmlns:a16="http://schemas.microsoft.com/office/drawing/2014/main" id="{E25A4DC4-BDA2-2CDB-BBC6-5695BDCFC8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86800" y="6477000"/>
            <a:ext cx="381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fld id="{6DBFD6AC-B802-A743-BA62-23A5599AD3D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003444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B0ED6999-8F2E-39CD-40E1-463456F61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Reading Assignment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E262963-A3B7-2A4C-D24D-27318BAB5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240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endParaRPr lang="en-US" altLang="en-US" sz="240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lvl="1"/>
            <a:endParaRPr lang="en-US" altLang="en-US" sz="180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E25F260C-EBF7-F6B2-2BA3-FC465902D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1793875"/>
            <a:ext cx="51879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Read Background Material in Chapter 1.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 1.1           Introduction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 1.4 - 1.6  Trends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 1.8 - 1.9  Measurement and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ark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Uark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Uark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ark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ark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ark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ark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ark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X:Templates:My Templates:Uark.pot</Template>
  <TotalTime>2616</TotalTime>
  <Words>519</Words>
  <Application>Microsoft Macintosh PowerPoint</Application>
  <PresentationFormat>On-screen Show (4:3)</PresentationFormat>
  <Paragraphs>73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Comic Sans MS</vt:lpstr>
      <vt:lpstr>Tahoma</vt:lpstr>
      <vt:lpstr>Times New Roman</vt:lpstr>
      <vt:lpstr>Uark</vt:lpstr>
      <vt:lpstr>PowerPoint Presentation</vt:lpstr>
      <vt:lpstr>Programmatics</vt:lpstr>
      <vt:lpstr>Programmatics</vt:lpstr>
      <vt:lpstr>How to do well in this course</vt:lpstr>
      <vt:lpstr>How NOT to do well in this course</vt:lpstr>
      <vt:lpstr>ChatGPT, Chegg, etc…</vt:lpstr>
      <vt:lpstr>Reading Assignment</vt:lpstr>
    </vt:vector>
  </TitlesOfParts>
  <Company>university of kansas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Architecture</dc:title>
  <dc:creator>dandrews</dc:creator>
  <cp:lastModifiedBy>David Andrews</cp:lastModifiedBy>
  <cp:revision>111</cp:revision>
  <cp:lastPrinted>2023-01-17T17:16:59Z</cp:lastPrinted>
  <dcterms:created xsi:type="dcterms:W3CDTF">2017-01-17T21:56:44Z</dcterms:created>
  <dcterms:modified xsi:type="dcterms:W3CDTF">2026-01-12T20:41:52Z</dcterms:modified>
</cp:coreProperties>
</file>