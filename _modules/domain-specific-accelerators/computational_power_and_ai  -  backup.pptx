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56"/>
  </p:notesMasterIdLst>
  <p:handoutMasterIdLst>
    <p:handoutMasterId r:id="rId57"/>
  </p:handoutMasterIdLst>
  <p:sldIdLst>
    <p:sldId id="256" r:id="rId2"/>
    <p:sldId id="258" r:id="rId3"/>
    <p:sldId id="313" r:id="rId4"/>
    <p:sldId id="310" r:id="rId5"/>
    <p:sldId id="312" r:id="rId6"/>
    <p:sldId id="314" r:id="rId7"/>
    <p:sldId id="315" r:id="rId8"/>
    <p:sldId id="316" r:id="rId9"/>
    <p:sldId id="317" r:id="rId10"/>
    <p:sldId id="318" r:id="rId11"/>
    <p:sldId id="265" r:id="rId12"/>
    <p:sldId id="319" r:id="rId13"/>
    <p:sldId id="266" r:id="rId14"/>
    <p:sldId id="320" r:id="rId15"/>
    <p:sldId id="321" r:id="rId16"/>
    <p:sldId id="322" r:id="rId17"/>
    <p:sldId id="259" r:id="rId18"/>
    <p:sldId id="323" r:id="rId19"/>
    <p:sldId id="324" r:id="rId20"/>
    <p:sldId id="325" r:id="rId21"/>
    <p:sldId id="326" r:id="rId22"/>
    <p:sldId id="327" r:id="rId23"/>
    <p:sldId id="328" r:id="rId24"/>
    <p:sldId id="329" r:id="rId25"/>
    <p:sldId id="330" r:id="rId26"/>
    <p:sldId id="331" r:id="rId27"/>
    <p:sldId id="332" r:id="rId28"/>
    <p:sldId id="261" r:id="rId29"/>
    <p:sldId id="262" r:id="rId30"/>
    <p:sldId id="263" r:id="rId31"/>
    <p:sldId id="267" r:id="rId32"/>
    <p:sldId id="268" r:id="rId33"/>
    <p:sldId id="269"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302" r:id="rId49"/>
    <p:sldId id="304" r:id="rId50"/>
    <p:sldId id="305" r:id="rId51"/>
    <p:sldId id="306" r:id="rId52"/>
    <p:sldId id="307" r:id="rId53"/>
    <p:sldId id="308" r:id="rId54"/>
    <p:sldId id="309" r:id="rId5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89"/>
    <p:restoredTop sz="94726"/>
  </p:normalViewPr>
  <p:slideViewPr>
    <p:cSldViewPr>
      <p:cViewPr>
        <p:scale>
          <a:sx n="123" d="100"/>
          <a:sy n="123" d="100"/>
        </p:scale>
        <p:origin x="1304" y="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79506A-464C-F463-C2CA-606E8450C8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Times New Roman" charset="0"/>
                <a:ea typeface="ＭＳ Ｐゴシック" charset="-128"/>
                <a:cs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914CA70A-1AD8-1430-4E23-74931CE5AD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Times New Roman" charset="0"/>
                <a:ea typeface="ＭＳ Ｐゴシック" charset="-128"/>
                <a:cs typeface="ＭＳ Ｐゴシック" charset="-128"/>
              </a:defRPr>
            </a:lvl1pPr>
          </a:lstStyle>
          <a:p>
            <a:pPr>
              <a:defRPr/>
            </a:pPr>
            <a:fld id="{0B6F7E63-69C4-1745-A18C-12058089D209}" type="datetimeFigureOut">
              <a:rPr lang="en-US"/>
              <a:pPr>
                <a:defRPr/>
              </a:pPr>
              <a:t>2/8/26</a:t>
            </a:fld>
            <a:endParaRPr lang="en-US"/>
          </a:p>
        </p:txBody>
      </p:sp>
      <p:sp>
        <p:nvSpPr>
          <p:cNvPr id="4" name="Footer Placeholder 3">
            <a:extLst>
              <a:ext uri="{FF2B5EF4-FFF2-40B4-BE49-F238E27FC236}">
                <a16:creationId xmlns:a16="http://schemas.microsoft.com/office/drawing/2014/main" id="{E6CCEE29-C3CC-0F21-276C-AE0A2CF94F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Times New Roman" charset="0"/>
                <a:ea typeface="ＭＳ Ｐゴシック" charset="-128"/>
                <a:cs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79D0FE4C-58DB-B080-2B1A-173BD2CD0002}"/>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05601A40-910F-3946-A127-E211F7F5392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C0B795A-C2B5-8D15-E43A-B4B5A8ED5E1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10" charset="0"/>
                <a:ea typeface="+mn-ea"/>
                <a:cs typeface="+mn-cs"/>
              </a:defRPr>
            </a:lvl1pPr>
          </a:lstStyle>
          <a:p>
            <a:pPr>
              <a:defRPr/>
            </a:pPr>
            <a:endParaRPr lang="en-US"/>
          </a:p>
        </p:txBody>
      </p:sp>
      <p:sp>
        <p:nvSpPr>
          <p:cNvPr id="14339" name="Rectangle 3">
            <a:extLst>
              <a:ext uri="{FF2B5EF4-FFF2-40B4-BE49-F238E27FC236}">
                <a16:creationId xmlns:a16="http://schemas.microsoft.com/office/drawing/2014/main" id="{C05E6FC9-399A-27D8-F548-38800DD652B2}"/>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10" charset="0"/>
                <a:ea typeface="+mn-ea"/>
                <a:cs typeface="+mn-cs"/>
              </a:defRPr>
            </a:lvl1pPr>
          </a:lstStyle>
          <a:p>
            <a:pPr>
              <a:defRPr/>
            </a:pPr>
            <a:endParaRPr lang="en-US"/>
          </a:p>
        </p:txBody>
      </p:sp>
      <p:sp>
        <p:nvSpPr>
          <p:cNvPr id="2052" name="Rectangle 4">
            <a:extLst>
              <a:ext uri="{FF2B5EF4-FFF2-40B4-BE49-F238E27FC236}">
                <a16:creationId xmlns:a16="http://schemas.microsoft.com/office/drawing/2014/main" id="{25F34450-27D8-75BB-9340-2E0C62D8AE2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a:extLst>
              <a:ext uri="{FF2B5EF4-FFF2-40B4-BE49-F238E27FC236}">
                <a16:creationId xmlns:a16="http://schemas.microsoft.com/office/drawing/2014/main" id="{40B250E0-31AC-07F4-7A36-C1E215527B37}"/>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6">
            <a:extLst>
              <a:ext uri="{FF2B5EF4-FFF2-40B4-BE49-F238E27FC236}">
                <a16:creationId xmlns:a16="http://schemas.microsoft.com/office/drawing/2014/main" id="{7A2BF438-A009-4EB0-4A28-2480A8F8D0C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10" charset="0"/>
                <a:ea typeface="+mn-ea"/>
                <a:cs typeface="+mn-cs"/>
              </a:defRPr>
            </a:lvl1pPr>
          </a:lstStyle>
          <a:p>
            <a:pPr>
              <a:defRPr/>
            </a:pPr>
            <a:endParaRPr lang="en-US"/>
          </a:p>
        </p:txBody>
      </p:sp>
      <p:sp>
        <p:nvSpPr>
          <p:cNvPr id="14343" name="Rectangle 7">
            <a:extLst>
              <a:ext uri="{FF2B5EF4-FFF2-40B4-BE49-F238E27FC236}">
                <a16:creationId xmlns:a16="http://schemas.microsoft.com/office/drawing/2014/main" id="{387308D2-8B48-E740-DB45-243A2377D5F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732DD24A-708A-6B40-A125-BDACBAB1D6F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pitchFamily="-110" charset="-128"/>
      </a:defRPr>
    </a:lvl1pPr>
    <a:lvl2pPr marL="4572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charset="-128"/>
      </a:defRPr>
    </a:lvl2pPr>
    <a:lvl3pPr marL="9144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charset="-128"/>
      </a:defRPr>
    </a:lvl3pPr>
    <a:lvl4pPr marL="1371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charset="-128"/>
      </a:defRPr>
    </a:lvl4pPr>
    <a:lvl5pPr marL="18288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010078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6445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888278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44550" y="1524000"/>
            <a:ext cx="36512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36512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5089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6239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74384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9029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68481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83978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8575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35725" y="533400"/>
            <a:ext cx="1863725" cy="5562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44550" y="533400"/>
            <a:ext cx="5438775"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1519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6801486-107F-042C-8D75-F80883FF9216}"/>
              </a:ext>
            </a:extLst>
          </p:cNvPr>
          <p:cNvSpPr>
            <a:spLocks noGrp="1" noChangeArrowheads="1"/>
          </p:cNvSpPr>
          <p:nvPr>
            <p:ph type="body" idx="1"/>
          </p:nvPr>
        </p:nvSpPr>
        <p:spPr bwMode="auto">
          <a:xfrm>
            <a:off x="844550" y="1524000"/>
            <a:ext cx="74549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7" name="Rectangle 3">
            <a:extLst>
              <a:ext uri="{FF2B5EF4-FFF2-40B4-BE49-F238E27FC236}">
                <a16:creationId xmlns:a16="http://schemas.microsoft.com/office/drawing/2014/main" id="{3E46F069-8073-E8F2-C4BC-C8516814FA9E}"/>
              </a:ext>
            </a:extLst>
          </p:cNvPr>
          <p:cNvSpPr>
            <a:spLocks noGrp="1" noChangeArrowheads="1"/>
          </p:cNvSpPr>
          <p:nvPr>
            <p:ph type="title"/>
          </p:nvPr>
        </p:nvSpPr>
        <p:spPr bwMode="auto">
          <a:xfrm>
            <a:off x="844550" y="533400"/>
            <a:ext cx="74549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C391FDC7-E245-1FCD-203E-D2A9D6445C2D}"/>
              </a:ext>
            </a:extLst>
          </p:cNvPr>
          <p:cNvSpPr>
            <a:spLocks noChangeArrowheads="1"/>
          </p:cNvSpPr>
          <p:nvPr/>
        </p:nvSpPr>
        <p:spPr bwMode="auto">
          <a:xfrm>
            <a:off x="655638" y="404813"/>
            <a:ext cx="7904162" cy="6048375"/>
          </a:xfrm>
          <a:prstGeom prst="rect">
            <a:avLst/>
          </a:prstGeom>
          <a:noFill/>
          <a:ln w="47625" cmpd="thinThick">
            <a:solidFill>
              <a:schemeClr val="hlink"/>
            </a:solidFill>
            <a:miter lim="800000"/>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9pPr>
          </a:lstStyle>
          <a:p>
            <a:pPr eaLnBrk="1" hangingPunct="1">
              <a:defRPr/>
            </a:pPr>
            <a:endParaRPr lang="en-US" altLang="en-US"/>
          </a:p>
        </p:txBody>
      </p:sp>
      <p:sp>
        <p:nvSpPr>
          <p:cNvPr id="1029" name="Line 5">
            <a:extLst>
              <a:ext uri="{FF2B5EF4-FFF2-40B4-BE49-F238E27FC236}">
                <a16:creationId xmlns:a16="http://schemas.microsoft.com/office/drawing/2014/main" id="{23016CB6-0DDE-C61A-078F-330379F564B2}"/>
              </a:ext>
            </a:extLst>
          </p:cNvPr>
          <p:cNvSpPr>
            <a:spLocks noChangeShapeType="1"/>
          </p:cNvSpPr>
          <p:nvPr/>
        </p:nvSpPr>
        <p:spPr bwMode="auto">
          <a:xfrm>
            <a:off x="844550" y="1295400"/>
            <a:ext cx="7454900" cy="0"/>
          </a:xfrm>
          <a:prstGeom prst="line">
            <a:avLst/>
          </a:prstGeom>
          <a:noFill/>
          <a:ln w="25400">
            <a:solidFill>
              <a:srgbClr val="0F286A"/>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30" name="Rectangle 6">
            <a:extLst>
              <a:ext uri="{FF2B5EF4-FFF2-40B4-BE49-F238E27FC236}">
                <a16:creationId xmlns:a16="http://schemas.microsoft.com/office/drawing/2014/main" id="{A73DBD55-A81E-9A82-C135-0F132BBA5F90}"/>
              </a:ext>
            </a:extLst>
          </p:cNvPr>
          <p:cNvSpPr>
            <a:spLocks noChangeArrowheads="1"/>
          </p:cNvSpPr>
          <p:nvPr/>
        </p:nvSpPr>
        <p:spPr bwMode="auto">
          <a:xfrm>
            <a:off x="3727450" y="2362200"/>
            <a:ext cx="4291013" cy="3048000"/>
          </a:xfrm>
          <a:prstGeom prst="rect">
            <a:avLst/>
          </a:prstGeom>
          <a:noFill/>
          <a:ln>
            <a:noFill/>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9pPr>
          </a:lstStyle>
          <a:p>
            <a:pPr eaLnBrk="1" hangingPunct="1">
              <a:defRPr/>
            </a:pPr>
            <a:endParaRPr lang="en-US" altLang="en-US"/>
          </a:p>
        </p:txBody>
      </p:sp>
      <p:sp>
        <p:nvSpPr>
          <p:cNvPr id="130055" name="Text Box 7">
            <a:extLst>
              <a:ext uri="{FF2B5EF4-FFF2-40B4-BE49-F238E27FC236}">
                <a16:creationId xmlns:a16="http://schemas.microsoft.com/office/drawing/2014/main" id="{E9A48269-853F-B1A9-FBBA-D34702BB7C35}"/>
              </a:ext>
            </a:extLst>
          </p:cNvPr>
          <p:cNvSpPr txBox="1">
            <a:spLocks noChangeArrowheads="1"/>
          </p:cNvSpPr>
          <p:nvPr/>
        </p:nvSpPr>
        <p:spPr bwMode="auto">
          <a:xfrm>
            <a:off x="1123950" y="6419850"/>
            <a:ext cx="2211388" cy="293688"/>
          </a:xfrm>
          <a:prstGeom prst="rect">
            <a:avLst/>
          </a:prstGeom>
          <a:noFill/>
          <a:ln w="9525">
            <a:noFill/>
            <a:miter lim="800000"/>
            <a:headEnd/>
            <a:tailEnd/>
          </a:ln>
          <a:effectLst/>
        </p:spPr>
        <p:txBody>
          <a:bodyPr wrap="none">
            <a:spAutoFit/>
          </a:bodyPr>
          <a:lstStyle>
            <a:lvl1pPr eaLnBrk="0" hangingPunct="0">
              <a:defRPr sz="2400">
                <a:solidFill>
                  <a:schemeClr val="tx1"/>
                </a:solidFill>
                <a:latin typeface="Times New Roman" charset="0"/>
                <a:ea typeface="ＭＳ Ｐゴシック" charset="-128"/>
                <a:cs typeface="ＭＳ Ｐゴシック" charset="-128"/>
              </a:defRPr>
            </a:lvl1pPr>
            <a:lvl2pPr marL="37931725" indent="-37474525" eaLnBrk="0" hangingPunct="0">
              <a:defRPr sz="2400">
                <a:solidFill>
                  <a:schemeClr val="tx1"/>
                </a:solidFill>
                <a:latin typeface="Times New Roman" charset="0"/>
                <a:ea typeface="ＭＳ Ｐゴシック" charset="-128"/>
                <a:cs typeface="ＭＳ Ｐゴシック" charset="-128"/>
              </a:defRPr>
            </a:lvl2pPr>
            <a:lvl3pPr eaLnBrk="0" hangingPunct="0">
              <a:defRPr sz="2400">
                <a:solidFill>
                  <a:schemeClr val="tx1"/>
                </a:solidFill>
                <a:latin typeface="Times New Roman" charset="0"/>
                <a:ea typeface="ＭＳ Ｐゴシック" charset="-128"/>
                <a:cs typeface="ＭＳ Ｐゴシック" charset="-128"/>
              </a:defRPr>
            </a:lvl3pPr>
            <a:lvl4pPr eaLnBrk="0" hangingPunct="0">
              <a:defRPr sz="2400">
                <a:solidFill>
                  <a:schemeClr val="tx1"/>
                </a:solidFill>
                <a:latin typeface="Times New Roman" charset="0"/>
                <a:ea typeface="ＭＳ Ｐゴシック" charset="-128"/>
                <a:cs typeface="ＭＳ Ｐゴシック" charset="-128"/>
              </a:defRPr>
            </a:lvl4pPr>
            <a:lvl5pPr eaLnBrk="0" hangingPunct="0">
              <a:defRPr sz="2400">
                <a:solidFill>
                  <a:schemeClr val="tx1"/>
                </a:solidFill>
                <a:latin typeface="Times New Roman" charset="0"/>
                <a:ea typeface="ＭＳ Ｐゴシック" charset="-128"/>
                <a:cs typeface="ＭＳ Ｐゴシック" charset="-128"/>
              </a:defRPr>
            </a:lvl5pPr>
            <a:lvl6pPr marL="457200" eaLnBrk="0" fontAlgn="base" hangingPunct="0">
              <a:spcBef>
                <a:spcPct val="0"/>
              </a:spcBef>
              <a:spcAft>
                <a:spcPct val="0"/>
              </a:spcAft>
              <a:defRPr sz="2400">
                <a:solidFill>
                  <a:schemeClr val="tx1"/>
                </a:solidFill>
                <a:latin typeface="Times New Roman" charset="0"/>
                <a:ea typeface="ＭＳ Ｐゴシック" charset="-128"/>
                <a:cs typeface="ＭＳ Ｐゴシック" charset="-128"/>
              </a:defRPr>
            </a:lvl6pPr>
            <a:lvl7pPr marL="914400" eaLnBrk="0" fontAlgn="base" hangingPunct="0">
              <a:spcBef>
                <a:spcPct val="0"/>
              </a:spcBef>
              <a:spcAft>
                <a:spcPct val="0"/>
              </a:spcAft>
              <a:defRPr sz="2400">
                <a:solidFill>
                  <a:schemeClr val="tx1"/>
                </a:solidFill>
                <a:latin typeface="Times New Roman" charset="0"/>
                <a:ea typeface="ＭＳ Ｐゴシック" charset="-128"/>
                <a:cs typeface="ＭＳ Ｐゴシック" charset="-128"/>
              </a:defRPr>
            </a:lvl7pPr>
            <a:lvl8pPr marL="1371600" eaLnBrk="0" fontAlgn="base" hangingPunct="0">
              <a:spcBef>
                <a:spcPct val="0"/>
              </a:spcBef>
              <a:spcAft>
                <a:spcPct val="0"/>
              </a:spcAft>
              <a:defRPr sz="2400">
                <a:solidFill>
                  <a:schemeClr val="tx1"/>
                </a:solidFill>
                <a:latin typeface="Times New Roman" charset="0"/>
                <a:ea typeface="ＭＳ Ｐゴシック" charset="-128"/>
                <a:cs typeface="ＭＳ Ｐゴシック" charset="-128"/>
              </a:defRPr>
            </a:lvl8pPr>
            <a:lvl9pPr marL="1828800" eaLnBrk="0" fontAlgn="base" hangingPunct="0">
              <a:spcBef>
                <a:spcPct val="0"/>
              </a:spcBef>
              <a:spcAft>
                <a:spcPct val="0"/>
              </a:spcAft>
              <a:defRPr sz="2400">
                <a:solidFill>
                  <a:schemeClr val="tx1"/>
                </a:solidFill>
                <a:latin typeface="Times New Roman" charset="0"/>
                <a:ea typeface="ＭＳ Ｐゴシック" charset="-128"/>
                <a:cs typeface="ＭＳ Ｐゴシック" charset="-128"/>
              </a:defRPr>
            </a:lvl9pPr>
          </a:lstStyle>
          <a:p>
            <a:pPr algn="r">
              <a:lnSpc>
                <a:spcPct val="110000"/>
              </a:lnSpc>
              <a:spcBef>
                <a:spcPct val="20000"/>
              </a:spcBef>
              <a:defRPr/>
            </a:pPr>
            <a:r>
              <a:rPr lang="en-US" altLang="en-US" sz="1200">
                <a:solidFill>
                  <a:schemeClr val="hlink"/>
                </a:solidFill>
                <a:latin typeface="Arial" charset="0"/>
              </a:rPr>
              <a:t>Computer System Design Lab</a:t>
            </a:r>
            <a:endParaRPr lang="en-US" altLang="en-US" sz="2000">
              <a:solidFill>
                <a:schemeClr val="hlink"/>
              </a:solidFill>
            </a:endParaRPr>
          </a:p>
        </p:txBody>
      </p:sp>
      <p:sp>
        <p:nvSpPr>
          <p:cNvPr id="130056" name="Text Box 8">
            <a:extLst>
              <a:ext uri="{FF2B5EF4-FFF2-40B4-BE49-F238E27FC236}">
                <a16:creationId xmlns:a16="http://schemas.microsoft.com/office/drawing/2014/main" id="{0343784A-BE32-3E0F-AEF2-4B95A7025A7A}"/>
              </a:ext>
            </a:extLst>
          </p:cNvPr>
          <p:cNvSpPr txBox="1">
            <a:spLocks noChangeArrowheads="1"/>
          </p:cNvSpPr>
          <p:nvPr/>
        </p:nvSpPr>
        <p:spPr bwMode="auto">
          <a:xfrm>
            <a:off x="8651875" y="6492875"/>
            <a:ext cx="361950" cy="274638"/>
          </a:xfrm>
          <a:prstGeom prst="rect">
            <a:avLst/>
          </a:prstGeom>
          <a:noFill/>
          <a:ln w="12700">
            <a:noFill/>
            <a:miter lim="800000"/>
            <a:headEnd type="none" w="sm" len="sm"/>
            <a:tailEnd type="none" w="sm" len="sm"/>
          </a:ln>
          <a:effec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cs typeface="ＭＳ Ｐゴシック" panose="020B0600070205080204" pitchFamily="34" charset="-128"/>
              </a:defRPr>
            </a:lvl9pPr>
          </a:lstStyle>
          <a:p>
            <a:pPr>
              <a:defRPr/>
            </a:pPr>
            <a:fld id="{F94BCF19-6558-E04D-ACFE-55C74ABD9017}" type="slidenum">
              <a:rPr lang="en-US" altLang="en-US" sz="1200" smtClean="0"/>
              <a:pPr>
                <a:defRPr/>
              </a:pPr>
              <a:t>‹#›</a:t>
            </a:fld>
            <a:endParaRPr lang="en-US" altLang="en-US" sz="1200"/>
          </a:p>
        </p:txBody>
      </p:sp>
      <p:pic>
        <p:nvPicPr>
          <p:cNvPr id="1033" name="Picture 9" descr="&#13;ArkLogo_2.png                                                  00072A12Macintosh HD                   C3BEAED8:">
            <a:extLst>
              <a:ext uri="{FF2B5EF4-FFF2-40B4-BE49-F238E27FC236}">
                <a16:creationId xmlns:a16="http://schemas.microsoft.com/office/drawing/2014/main" id="{DBA13D92-B507-495C-B7FD-9A03B1F8E3D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963" y="5864225"/>
            <a:ext cx="93662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rtl="0" eaLnBrk="0" fontAlgn="base" hangingPunct="0">
        <a:spcBef>
          <a:spcPct val="0"/>
        </a:spcBef>
        <a:spcAft>
          <a:spcPct val="0"/>
        </a:spcAft>
        <a:defRPr sz="3600">
          <a:solidFill>
            <a:schemeClr val="tx2"/>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3600">
          <a:solidFill>
            <a:schemeClr val="tx2"/>
          </a:solidFill>
          <a:latin typeface="Comic Sans MS"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3600">
          <a:solidFill>
            <a:schemeClr val="tx2"/>
          </a:solidFill>
          <a:latin typeface="Comic Sans MS"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3600">
          <a:solidFill>
            <a:schemeClr val="tx2"/>
          </a:solidFill>
          <a:latin typeface="Comic Sans MS"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3600">
          <a:solidFill>
            <a:schemeClr val="tx2"/>
          </a:solidFill>
          <a:latin typeface="Comic Sans MS"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3600">
          <a:solidFill>
            <a:schemeClr val="tx2"/>
          </a:solidFill>
          <a:latin typeface="Comic Sans MS" pitchFamily="-110" charset="0"/>
        </a:defRPr>
      </a:lvl6pPr>
      <a:lvl7pPr marL="914400" algn="l" rtl="0" eaLnBrk="0" fontAlgn="base" hangingPunct="0">
        <a:spcBef>
          <a:spcPct val="0"/>
        </a:spcBef>
        <a:spcAft>
          <a:spcPct val="0"/>
        </a:spcAft>
        <a:defRPr sz="3600">
          <a:solidFill>
            <a:schemeClr val="tx2"/>
          </a:solidFill>
          <a:latin typeface="Comic Sans MS" pitchFamily="-110" charset="0"/>
        </a:defRPr>
      </a:lvl7pPr>
      <a:lvl8pPr marL="1371600" algn="l" rtl="0" eaLnBrk="0" fontAlgn="base" hangingPunct="0">
        <a:spcBef>
          <a:spcPct val="0"/>
        </a:spcBef>
        <a:spcAft>
          <a:spcPct val="0"/>
        </a:spcAft>
        <a:defRPr sz="3600">
          <a:solidFill>
            <a:schemeClr val="tx2"/>
          </a:solidFill>
          <a:latin typeface="Comic Sans MS" pitchFamily="-110" charset="0"/>
        </a:defRPr>
      </a:lvl8pPr>
      <a:lvl9pPr marL="1828800" algn="l" rtl="0" eaLnBrk="0" fontAlgn="base" hangingPunct="0">
        <a:spcBef>
          <a:spcPct val="0"/>
        </a:spcBef>
        <a:spcAft>
          <a:spcPct val="0"/>
        </a:spcAft>
        <a:defRPr sz="3600">
          <a:solidFill>
            <a:schemeClr val="tx2"/>
          </a:solidFill>
          <a:latin typeface="Comic Sans MS" pitchFamily="-110" charset="0"/>
        </a:defRPr>
      </a:lvl9pPr>
    </p:titleStyle>
    <p:bodyStyle>
      <a:lvl1pPr marL="342900" indent="-342900" algn="l" rtl="0" eaLnBrk="0" fontAlgn="base" hangingPunct="0">
        <a:spcBef>
          <a:spcPct val="20000"/>
        </a:spcBef>
        <a:spcAft>
          <a:spcPct val="0"/>
        </a:spcAft>
        <a:buSzPct val="100000"/>
        <a:buChar char="•"/>
        <a:defRPr sz="2800">
          <a:solidFill>
            <a:schemeClr val="tx1"/>
          </a:solidFill>
          <a:latin typeface="+mn-lt"/>
          <a:ea typeface="ＭＳ Ｐゴシック" pitchFamily="-110" charset="-128"/>
          <a:cs typeface="ＭＳ Ｐゴシック" pitchFamily="-110" charset="-128"/>
        </a:defRPr>
      </a:lvl1pPr>
      <a:lvl2pPr marL="742950" indent="-285750" algn="l" rtl="0" eaLnBrk="0" fontAlgn="base" hangingPunct="0">
        <a:spcBef>
          <a:spcPct val="20000"/>
        </a:spcBef>
        <a:spcAft>
          <a:spcPct val="0"/>
        </a:spcAft>
        <a:buSzPct val="100000"/>
        <a:buChar char="•"/>
        <a:defRPr sz="2000">
          <a:solidFill>
            <a:schemeClr val="tx1"/>
          </a:solidFill>
          <a:latin typeface="+mn-lt"/>
          <a:ea typeface="ＭＳ Ｐゴシック" pitchFamily="-110" charset="-128"/>
          <a:cs typeface="ＭＳ Ｐゴシック" charset="-128"/>
        </a:defRPr>
      </a:lvl2pPr>
      <a:lvl3pPr marL="1143000" indent="-228600" algn="l" rtl="0" eaLnBrk="0" fontAlgn="base" hangingPunct="0">
        <a:spcBef>
          <a:spcPct val="20000"/>
        </a:spcBef>
        <a:spcAft>
          <a:spcPct val="0"/>
        </a:spcAft>
        <a:buSzPct val="100000"/>
        <a:buChar char="–"/>
        <a:defRPr sz="2000">
          <a:solidFill>
            <a:schemeClr val="tx1"/>
          </a:solidFill>
          <a:latin typeface="+mn-lt"/>
          <a:ea typeface="ＭＳ Ｐゴシック" pitchFamily="-110" charset="-128"/>
          <a:cs typeface="ＭＳ Ｐゴシック" charset="-128"/>
        </a:defRPr>
      </a:lvl3pPr>
      <a:lvl4pPr marL="16002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cs typeface="ＭＳ Ｐゴシック" charset="-128"/>
        </a:defRPr>
      </a:lvl4pPr>
      <a:lvl5pPr marL="20574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cs typeface="ＭＳ Ｐゴシック" charset="-128"/>
        </a:defRPr>
      </a:lvl5pPr>
      <a:lvl6pPr marL="25146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6pPr>
      <a:lvl7pPr marL="29718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7pPr>
      <a:lvl8pPr marL="34290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8pPr>
      <a:lvl9pPr marL="38862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inowinstitute.org/wp-content/uploads/2023/09/AI-Now_Computational-Power-an-AI.pdf"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A089BB-6B56-D33E-2FF5-11B601AD9391}"/>
              </a:ext>
            </a:extLst>
          </p:cNvPr>
          <p:cNvSpPr>
            <a:spLocks noGrp="1"/>
          </p:cNvSpPr>
          <p:nvPr>
            <p:ph type="ctrTitle"/>
          </p:nvPr>
        </p:nvSpPr>
        <p:spPr>
          <a:xfrm>
            <a:off x="838200" y="53975"/>
            <a:ext cx="7772400" cy="1470025"/>
          </a:xfrm>
        </p:spPr>
        <p:txBody>
          <a:bodyPr/>
          <a:lstStyle/>
          <a:p>
            <a:r>
              <a:rPr lang="en-US" dirty="0"/>
              <a:t>“Computational Power and AI”</a:t>
            </a:r>
            <a:br>
              <a:rPr lang="en-US" dirty="0"/>
            </a:br>
            <a:r>
              <a:rPr lang="en-US" sz="2000" dirty="0"/>
              <a:t>By Jai </a:t>
            </a:r>
            <a:r>
              <a:rPr lang="en-US" sz="2000" dirty="0" err="1"/>
              <a:t>Vipra</a:t>
            </a:r>
            <a:r>
              <a:rPr lang="en-US" sz="2000" dirty="0"/>
              <a:t> + Sarah Myers West AINOW. </a:t>
            </a:r>
          </a:p>
        </p:txBody>
      </p:sp>
      <p:sp>
        <p:nvSpPr>
          <p:cNvPr id="4" name="Subtitle 3">
            <a:extLst>
              <a:ext uri="{FF2B5EF4-FFF2-40B4-BE49-F238E27FC236}">
                <a16:creationId xmlns:a16="http://schemas.microsoft.com/office/drawing/2014/main" id="{1846CF23-F65A-2A1F-25EE-C9BBB7EF6E9A}"/>
              </a:ext>
            </a:extLst>
          </p:cNvPr>
          <p:cNvSpPr>
            <a:spLocks noGrp="1"/>
          </p:cNvSpPr>
          <p:nvPr>
            <p:ph type="subTitle" idx="1"/>
          </p:nvPr>
        </p:nvSpPr>
        <p:spPr>
          <a:xfrm>
            <a:off x="1371600" y="2819400"/>
            <a:ext cx="6400800" cy="1752600"/>
          </a:xfrm>
        </p:spPr>
        <p:txBody>
          <a:bodyPr/>
          <a:lstStyle/>
          <a:p>
            <a:r>
              <a:rPr lang="en-US" dirty="0"/>
              <a:t>Prof. David Andrews</a:t>
            </a:r>
          </a:p>
          <a:p>
            <a:r>
              <a:rPr lang="en-US" dirty="0"/>
              <a:t>Rm 527 JBHT</a:t>
            </a:r>
          </a:p>
          <a:p>
            <a:endParaRPr lang="en-US" dirty="0"/>
          </a:p>
        </p:txBody>
      </p:sp>
      <p:sp>
        <p:nvSpPr>
          <p:cNvPr id="5" name="TextBox 4">
            <a:extLst>
              <a:ext uri="{FF2B5EF4-FFF2-40B4-BE49-F238E27FC236}">
                <a16:creationId xmlns:a16="http://schemas.microsoft.com/office/drawing/2014/main" id="{38AFC1A9-902E-9F2B-53DD-27D9C9BCFC53}"/>
              </a:ext>
            </a:extLst>
          </p:cNvPr>
          <p:cNvSpPr txBox="1"/>
          <p:nvPr/>
        </p:nvSpPr>
        <p:spPr>
          <a:xfrm>
            <a:off x="685800" y="5153101"/>
            <a:ext cx="7010400" cy="830997"/>
          </a:xfrm>
          <a:prstGeom prst="rect">
            <a:avLst/>
          </a:prstGeom>
          <a:noFill/>
        </p:spPr>
        <p:txBody>
          <a:bodyPr wrap="square" rtlCol="0">
            <a:spAutoFit/>
          </a:bodyPr>
          <a:lstStyle/>
          <a:p>
            <a:r>
              <a:rPr lang="en-US" sz="1600" dirty="0">
                <a:hlinkClick r:id="rId2"/>
              </a:rPr>
              <a:t>https://ainowinstitute.org/wp-content/uploads/2023/09/AI-Now_Computational-Power-an-AI.pdf</a:t>
            </a:r>
            <a:endParaRPr lang="en-US" sz="1600" dirty="0"/>
          </a:p>
          <a:p>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a:t>
            </a:r>
            <a:r>
              <a:rPr dirty="0"/>
              <a:t> Compute</a:t>
            </a:r>
          </a:p>
        </p:txBody>
      </p:sp>
      <p:pic>
        <p:nvPicPr>
          <p:cNvPr id="4" name="Picture 3">
            <a:extLst>
              <a:ext uri="{FF2B5EF4-FFF2-40B4-BE49-F238E27FC236}">
                <a16:creationId xmlns:a16="http://schemas.microsoft.com/office/drawing/2014/main" id="{8807EE3D-C523-8001-D67D-748239320213}"/>
              </a:ext>
            </a:extLst>
          </p:cNvPr>
          <p:cNvPicPr>
            <a:picLocks noChangeAspect="1"/>
          </p:cNvPicPr>
          <p:nvPr/>
        </p:nvPicPr>
        <p:blipFill>
          <a:blip r:embed="rId2"/>
          <a:stretch>
            <a:fillRect/>
          </a:stretch>
        </p:blipFill>
        <p:spPr>
          <a:xfrm>
            <a:off x="685800" y="2424516"/>
            <a:ext cx="7772400" cy="20089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1F855-94EF-9081-0017-8301961A9517}"/>
              </a:ext>
            </a:extLst>
          </p:cNvPr>
          <p:cNvSpPr>
            <a:spLocks noGrp="1"/>
          </p:cNvSpPr>
          <p:nvPr>
            <p:ph type="title"/>
          </p:nvPr>
        </p:nvSpPr>
        <p:spPr/>
        <p:txBody>
          <a:bodyPr/>
          <a:lstStyle/>
          <a:p>
            <a:r>
              <a:rPr lang="en-US" dirty="0"/>
              <a:t>Core Thesis of the Article</a:t>
            </a:r>
          </a:p>
        </p:txBody>
      </p:sp>
      <p:sp>
        <p:nvSpPr>
          <p:cNvPr id="3" name="Content Placeholder 2">
            <a:extLst>
              <a:ext uri="{FF2B5EF4-FFF2-40B4-BE49-F238E27FC236}">
                <a16:creationId xmlns:a16="http://schemas.microsoft.com/office/drawing/2014/main" id="{E6ED4AE0-7331-200D-6DE8-7061BDA55249}"/>
              </a:ext>
            </a:extLst>
          </p:cNvPr>
          <p:cNvSpPr>
            <a:spLocks noGrp="1"/>
          </p:cNvSpPr>
          <p:nvPr>
            <p:ph idx="1"/>
          </p:nvPr>
        </p:nvSpPr>
        <p:spPr/>
        <p:txBody>
          <a:bodyPr/>
          <a:lstStyle/>
          <a:p>
            <a:pPr>
              <a:buFont typeface="Arial" panose="020B0604020202020204" pitchFamily="34" charset="0"/>
              <a:buChar char="•"/>
            </a:pPr>
            <a:r>
              <a:rPr lang="en-US" dirty="0"/>
              <a:t>Compute is not just a technical input, it is a </a:t>
            </a:r>
            <a:r>
              <a:rPr lang="en-US" b="1" dirty="0"/>
              <a:t>structuring force</a:t>
            </a:r>
            <a:r>
              <a:rPr lang="en-US" dirty="0"/>
              <a:t> for:</a:t>
            </a:r>
          </a:p>
          <a:p>
            <a:pPr marL="742950" lvl="1" indent="-285750">
              <a:buFont typeface="Arial" panose="020B0604020202020204" pitchFamily="34" charset="0"/>
              <a:buChar char="•"/>
            </a:pPr>
            <a:r>
              <a:rPr lang="en-US" dirty="0"/>
              <a:t>Market power</a:t>
            </a:r>
          </a:p>
          <a:p>
            <a:pPr marL="742950" lvl="1" indent="-285750">
              <a:buFont typeface="Arial" panose="020B0604020202020204" pitchFamily="34" charset="0"/>
              <a:buChar char="•"/>
            </a:pPr>
            <a:r>
              <a:rPr lang="en-US" dirty="0"/>
              <a:t>Research direction</a:t>
            </a:r>
          </a:p>
          <a:p>
            <a:pPr marL="742950" lvl="1" indent="-285750">
              <a:buFont typeface="Arial" panose="020B0604020202020204" pitchFamily="34" charset="0"/>
              <a:buChar char="•"/>
            </a:pPr>
            <a:r>
              <a:rPr lang="en-US" dirty="0"/>
              <a:t>Environmental impact</a:t>
            </a:r>
          </a:p>
          <a:p>
            <a:pPr marL="742950" lvl="1" indent="-285750">
              <a:buFont typeface="Arial" panose="020B0604020202020204" pitchFamily="34" charset="0"/>
              <a:buChar char="•"/>
            </a:pPr>
            <a:r>
              <a:rPr lang="en-US" dirty="0"/>
              <a:t>Governance and policy</a:t>
            </a:r>
          </a:p>
          <a:p>
            <a:pPr indent="-285750">
              <a:buFont typeface="Arial" panose="020B0604020202020204" pitchFamily="34" charset="0"/>
              <a:buChar char="•"/>
            </a:pPr>
            <a:r>
              <a:rPr lang="en-US" dirty="0"/>
              <a:t>Current approach to AI infrastructure self perpetuating, not sustainable long term. </a:t>
            </a:r>
          </a:p>
          <a:p>
            <a:pPr indent="-285750">
              <a:buFont typeface="Arial" panose="020B0604020202020204" pitchFamily="34" charset="0"/>
              <a:buChar char="•"/>
            </a:pPr>
            <a:r>
              <a:rPr lang="en-US" dirty="0"/>
              <a:t>New Policies may be required to prevent hurtful monopolies</a:t>
            </a:r>
          </a:p>
        </p:txBody>
      </p:sp>
    </p:spTree>
    <p:extLst>
      <p:ext uri="{BB962C8B-B14F-4D97-AF65-F5344CB8AC3E}">
        <p14:creationId xmlns:p14="http://schemas.microsoft.com/office/powerpoint/2010/main" val="1486316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C813B-3431-C2F0-7C07-B714EBF5F5ED}"/>
              </a:ext>
            </a:extLst>
          </p:cNvPr>
          <p:cNvSpPr>
            <a:spLocks noGrp="1"/>
          </p:cNvSpPr>
          <p:nvPr>
            <p:ph type="title"/>
          </p:nvPr>
        </p:nvSpPr>
        <p:spPr/>
        <p:txBody>
          <a:bodyPr/>
          <a:lstStyle/>
          <a:p>
            <a:r>
              <a:rPr lang="en-US" dirty="0"/>
              <a:t>AI Dominance</a:t>
            </a:r>
          </a:p>
        </p:txBody>
      </p:sp>
      <p:sp>
        <p:nvSpPr>
          <p:cNvPr id="3" name="Content Placeholder 2">
            <a:extLst>
              <a:ext uri="{FF2B5EF4-FFF2-40B4-BE49-F238E27FC236}">
                <a16:creationId xmlns:a16="http://schemas.microsoft.com/office/drawing/2014/main" id="{6011B55A-47A8-6941-DFC4-83125AE6A1A4}"/>
              </a:ext>
            </a:extLst>
          </p:cNvPr>
          <p:cNvSpPr>
            <a:spLocks noGrp="1"/>
          </p:cNvSpPr>
          <p:nvPr>
            <p:ph idx="1"/>
          </p:nvPr>
        </p:nvSpPr>
        <p:spPr/>
        <p:txBody>
          <a:bodyPr/>
          <a:lstStyle/>
          <a:p>
            <a:r>
              <a:rPr lang="en-US" sz="2400" dirty="0"/>
              <a:t>Compute is a predominant factor driving the industry today.  Industry spends more than 80% of total capital spent on compute resources.</a:t>
            </a:r>
          </a:p>
          <a:p>
            <a:r>
              <a:rPr lang="en-US" sz="2400" dirty="0"/>
              <a:t>Incentivizes cloud infrastructure providers to act in ways that protect their dominant position in the market</a:t>
            </a:r>
          </a:p>
          <a:p>
            <a:r>
              <a:rPr lang="en-US" sz="2400" dirty="0"/>
              <a:t>Encourages lock-in into their cloud ecosystems.</a:t>
            </a:r>
          </a:p>
          <a:p>
            <a:r>
              <a:rPr lang="en-US" sz="2400" dirty="0" err="1"/>
              <a:t>Reinforaces</a:t>
            </a:r>
            <a:r>
              <a:rPr lang="en-US" sz="2400" dirty="0"/>
              <a:t> the control of firms that already dominate the tech industry.</a:t>
            </a:r>
          </a:p>
          <a:p>
            <a:endParaRPr lang="en-US" sz="2400" dirty="0"/>
          </a:p>
          <a:p>
            <a:pPr marL="0" indent="0" algn="ctr">
              <a:buNone/>
            </a:pPr>
            <a:r>
              <a:rPr lang="en-US" sz="2400" i="1" dirty="0"/>
              <a:t>The rich get richer…….</a:t>
            </a:r>
          </a:p>
          <a:p>
            <a:endParaRPr lang="en-US" sz="2400" dirty="0"/>
          </a:p>
        </p:txBody>
      </p:sp>
    </p:spTree>
    <p:extLst>
      <p:ext uri="{BB962C8B-B14F-4D97-AF65-F5344CB8AC3E}">
        <p14:creationId xmlns:p14="http://schemas.microsoft.com/office/powerpoint/2010/main" val="193939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8BD3-79F1-D980-1678-63113BB26D5D}"/>
              </a:ext>
            </a:extLst>
          </p:cNvPr>
          <p:cNvSpPr>
            <a:spLocks noGrp="1"/>
          </p:cNvSpPr>
          <p:nvPr>
            <p:ph type="title"/>
          </p:nvPr>
        </p:nvSpPr>
        <p:spPr/>
        <p:txBody>
          <a:bodyPr/>
          <a:lstStyle/>
          <a:p>
            <a:r>
              <a:rPr lang="en-US" dirty="0"/>
              <a:t>Approach to AI to date:</a:t>
            </a:r>
          </a:p>
        </p:txBody>
      </p:sp>
      <p:sp>
        <p:nvSpPr>
          <p:cNvPr id="3" name="Content Placeholder 2">
            <a:extLst>
              <a:ext uri="{FF2B5EF4-FFF2-40B4-BE49-F238E27FC236}">
                <a16:creationId xmlns:a16="http://schemas.microsoft.com/office/drawing/2014/main" id="{055F3C45-25F6-CA6B-5FC2-3FCD1C35A27A}"/>
              </a:ext>
            </a:extLst>
          </p:cNvPr>
          <p:cNvSpPr>
            <a:spLocks noGrp="1"/>
          </p:cNvSpPr>
          <p:nvPr>
            <p:ph idx="1"/>
          </p:nvPr>
        </p:nvSpPr>
        <p:spPr/>
        <p:txBody>
          <a:bodyPr/>
          <a:lstStyle/>
          <a:p>
            <a:pPr marL="0" indent="0">
              <a:buNone/>
            </a:pPr>
            <a:r>
              <a:rPr lang="en-US" dirty="0">
                <a:effectLst/>
                <a:latin typeface="Rubik"/>
              </a:rPr>
              <a:t>Researchers in AI have largely concluded that increasing scale is key to accuracy and performance in training deep learning models. This has driven an exponentially growing demand for compute power, leading to concerns that the current pace of growth is unsustainable </a:t>
            </a:r>
            <a:endParaRPr lang="en-US" dirty="0">
              <a:effectLst/>
            </a:endParaRPr>
          </a:p>
        </p:txBody>
      </p:sp>
    </p:spTree>
    <p:extLst>
      <p:ext uri="{BB962C8B-B14F-4D97-AF65-F5344CB8AC3E}">
        <p14:creationId xmlns:p14="http://schemas.microsoft.com/office/powerpoint/2010/main" val="2824164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3FA94-88CE-426C-7E20-3DD9AE8A11C8}"/>
              </a:ext>
            </a:extLst>
          </p:cNvPr>
          <p:cNvSpPr>
            <a:spLocks noGrp="1"/>
          </p:cNvSpPr>
          <p:nvPr>
            <p:ph type="title"/>
          </p:nvPr>
        </p:nvSpPr>
        <p:spPr/>
        <p:txBody>
          <a:bodyPr/>
          <a:lstStyle/>
          <a:p>
            <a:r>
              <a:rPr lang="en-US" dirty="0"/>
              <a:t>Compute Demand Growth</a:t>
            </a:r>
          </a:p>
        </p:txBody>
      </p:sp>
      <p:pic>
        <p:nvPicPr>
          <p:cNvPr id="4" name="Picture 3">
            <a:extLst>
              <a:ext uri="{FF2B5EF4-FFF2-40B4-BE49-F238E27FC236}">
                <a16:creationId xmlns:a16="http://schemas.microsoft.com/office/drawing/2014/main" id="{3664BB26-4DC1-48AE-9367-8F3191FD5943}"/>
              </a:ext>
            </a:extLst>
          </p:cNvPr>
          <p:cNvPicPr>
            <a:picLocks noChangeAspect="1"/>
          </p:cNvPicPr>
          <p:nvPr/>
        </p:nvPicPr>
        <p:blipFill>
          <a:blip r:embed="rId2"/>
          <a:stretch>
            <a:fillRect/>
          </a:stretch>
        </p:blipFill>
        <p:spPr>
          <a:xfrm>
            <a:off x="685800" y="1351969"/>
            <a:ext cx="7772400" cy="3372431"/>
          </a:xfrm>
          <a:prstGeom prst="rect">
            <a:avLst/>
          </a:prstGeom>
        </p:spPr>
      </p:pic>
      <p:sp>
        <p:nvSpPr>
          <p:cNvPr id="5" name="TextBox 4">
            <a:extLst>
              <a:ext uri="{FF2B5EF4-FFF2-40B4-BE49-F238E27FC236}">
                <a16:creationId xmlns:a16="http://schemas.microsoft.com/office/drawing/2014/main" id="{7453CDF0-344A-335A-6BE4-BF31E173E73B}"/>
              </a:ext>
            </a:extLst>
          </p:cNvPr>
          <p:cNvSpPr txBox="1"/>
          <p:nvPr/>
        </p:nvSpPr>
        <p:spPr>
          <a:xfrm>
            <a:off x="990600" y="4953000"/>
            <a:ext cx="7643631" cy="1692771"/>
          </a:xfrm>
          <a:prstGeom prst="rect">
            <a:avLst/>
          </a:prstGeom>
          <a:noFill/>
        </p:spPr>
        <p:txBody>
          <a:bodyPr wrap="none" rtlCol="0">
            <a:spAutoFit/>
          </a:bodyPr>
          <a:lstStyle/>
          <a:p>
            <a:r>
              <a:rPr lang="en-US" sz="2000" dirty="0"/>
              <a:t>Pre Deep Learning Era:  Compute for AI Models Doubled ~ 21 Months</a:t>
            </a:r>
          </a:p>
          <a:p>
            <a:r>
              <a:rPr lang="en-US" sz="2000" dirty="0"/>
              <a:t>Deep Learning Era (~2010):                                  Doubled ~5.7 Months</a:t>
            </a:r>
          </a:p>
          <a:p>
            <a:r>
              <a:rPr lang="en-US" sz="2000" dirty="0"/>
              <a:t>Since 2015:                           Large-Scale Models Doubled ~9.9 Months</a:t>
            </a:r>
          </a:p>
          <a:p>
            <a:r>
              <a:rPr lang="en-US" sz="2000" dirty="0"/>
              <a:t>	                            Regular-Scale Models Doubled ~5.7 Months </a:t>
            </a:r>
          </a:p>
          <a:p>
            <a:endParaRPr lang="en-US" dirty="0"/>
          </a:p>
        </p:txBody>
      </p:sp>
    </p:spTree>
    <p:extLst>
      <p:ext uri="{BB962C8B-B14F-4D97-AF65-F5344CB8AC3E}">
        <p14:creationId xmlns:p14="http://schemas.microsoft.com/office/powerpoint/2010/main" val="384109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4FA01-92C8-C55C-891A-8D875BBF3E21}"/>
              </a:ext>
            </a:extLst>
          </p:cNvPr>
          <p:cNvSpPr>
            <a:spLocks noGrp="1"/>
          </p:cNvSpPr>
          <p:nvPr>
            <p:ph type="title"/>
          </p:nvPr>
        </p:nvSpPr>
        <p:spPr/>
        <p:txBody>
          <a:bodyPr/>
          <a:lstStyle/>
          <a:p>
            <a:r>
              <a:rPr lang="en-US" dirty="0"/>
              <a:t>Effects of Demands</a:t>
            </a:r>
          </a:p>
        </p:txBody>
      </p:sp>
      <p:sp>
        <p:nvSpPr>
          <p:cNvPr id="3" name="Content Placeholder 2">
            <a:extLst>
              <a:ext uri="{FF2B5EF4-FFF2-40B4-BE49-F238E27FC236}">
                <a16:creationId xmlns:a16="http://schemas.microsoft.com/office/drawing/2014/main" id="{644DCC0E-E6B8-6CC5-564C-3A2680C9CB0F}"/>
              </a:ext>
            </a:extLst>
          </p:cNvPr>
          <p:cNvSpPr>
            <a:spLocks noGrp="1"/>
          </p:cNvSpPr>
          <p:nvPr>
            <p:ph idx="1"/>
          </p:nvPr>
        </p:nvSpPr>
        <p:spPr>
          <a:xfrm>
            <a:off x="609600" y="1219200"/>
            <a:ext cx="7924800" cy="4572000"/>
          </a:xfrm>
        </p:spPr>
        <p:txBody>
          <a:bodyPr/>
          <a:lstStyle/>
          <a:p>
            <a:r>
              <a:rPr lang="en-US" dirty="0"/>
              <a:t>Demand for Limited Supply of Chips Extremely high</a:t>
            </a:r>
          </a:p>
          <a:p>
            <a:pPr lvl="1"/>
            <a:r>
              <a:rPr lang="en-US" dirty="0"/>
              <a:t>Orgs set up to provide GPU rental services</a:t>
            </a:r>
          </a:p>
          <a:p>
            <a:pPr lvl="1"/>
            <a:r>
              <a:rPr lang="en-US" dirty="0"/>
              <a:t>Purchases of GPUs by nation-states seeking competitive advantage</a:t>
            </a:r>
          </a:p>
          <a:p>
            <a:r>
              <a:rPr lang="en-US" dirty="0"/>
              <a:t>Puts a few in Dominant Positions:</a:t>
            </a:r>
          </a:p>
          <a:p>
            <a:pPr lvl="1"/>
            <a:r>
              <a:rPr lang="en-US" dirty="0"/>
              <a:t>Cloud infrastructure firms (AWS, Google Cloud, </a:t>
            </a:r>
            <a:r>
              <a:rPr lang="en-US" dirty="0" err="1"/>
              <a:t>MSAzure</a:t>
            </a:r>
            <a:r>
              <a:rPr lang="en-US" dirty="0"/>
              <a:t>)</a:t>
            </a:r>
          </a:p>
          <a:p>
            <a:pPr lvl="1"/>
            <a:r>
              <a:rPr lang="en-US" dirty="0"/>
              <a:t>Chips:  NVIDIA</a:t>
            </a:r>
          </a:p>
          <a:p>
            <a:pPr lvl="1"/>
            <a:r>
              <a:rPr lang="en-US" dirty="0"/>
              <a:t>Chip Fab: TSMC </a:t>
            </a:r>
          </a:p>
          <a:p>
            <a:r>
              <a:rPr lang="en-US" dirty="0"/>
              <a:t>And unsustainable environmental issues</a:t>
            </a:r>
          </a:p>
          <a:p>
            <a:pPr lvl="1"/>
            <a:r>
              <a:rPr lang="en-US" dirty="0"/>
              <a:t>TSMC accounts for 4.8% of Taiwan’s national energy consumption, more than the entire capital city of Taipei </a:t>
            </a:r>
          </a:p>
        </p:txBody>
      </p:sp>
    </p:spTree>
    <p:extLst>
      <p:ext uri="{BB962C8B-B14F-4D97-AF65-F5344CB8AC3E}">
        <p14:creationId xmlns:p14="http://schemas.microsoft.com/office/powerpoint/2010/main" val="4055201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09BD-1988-07A3-3A3D-B8D80C756838}"/>
              </a:ext>
            </a:extLst>
          </p:cNvPr>
          <p:cNvSpPr>
            <a:spLocks noGrp="1"/>
          </p:cNvSpPr>
          <p:nvPr>
            <p:ph type="title"/>
          </p:nvPr>
        </p:nvSpPr>
        <p:spPr/>
        <p:txBody>
          <a:bodyPr/>
          <a:lstStyle/>
          <a:p>
            <a:r>
              <a:rPr lang="en-US" dirty="0"/>
              <a:t>Self Perpetuating Cycles</a:t>
            </a:r>
          </a:p>
        </p:txBody>
      </p:sp>
      <p:sp>
        <p:nvSpPr>
          <p:cNvPr id="3" name="Content Placeholder 2">
            <a:extLst>
              <a:ext uri="{FF2B5EF4-FFF2-40B4-BE49-F238E27FC236}">
                <a16:creationId xmlns:a16="http://schemas.microsoft.com/office/drawing/2014/main" id="{78C79FAB-7F05-E574-93F2-5ED03F20245E}"/>
              </a:ext>
            </a:extLst>
          </p:cNvPr>
          <p:cNvSpPr>
            <a:spLocks noGrp="1"/>
          </p:cNvSpPr>
          <p:nvPr>
            <p:ph idx="1"/>
          </p:nvPr>
        </p:nvSpPr>
        <p:spPr/>
        <p:txBody>
          <a:bodyPr/>
          <a:lstStyle/>
          <a:p>
            <a:r>
              <a:rPr lang="en-US" b="1" dirty="0"/>
              <a:t>Accepted Scaling Assumption</a:t>
            </a:r>
          </a:p>
          <a:p>
            <a:pPr>
              <a:buFont typeface="Arial" panose="020B0604020202020204" pitchFamily="34" charset="0"/>
              <a:buChar char="•"/>
            </a:pPr>
            <a:r>
              <a:rPr lang="en-US" dirty="0"/>
              <a:t>Bigger models + more compute = better results</a:t>
            </a:r>
          </a:p>
          <a:p>
            <a:pPr>
              <a:buFont typeface="Arial" panose="020B0604020202020204" pitchFamily="34" charset="0"/>
              <a:buChar char="•"/>
            </a:pPr>
            <a:r>
              <a:rPr lang="en-US" dirty="0"/>
              <a:t>Industry consensus shaped investment</a:t>
            </a:r>
          </a:p>
          <a:p>
            <a:pPr>
              <a:buFont typeface="Arial" panose="020B0604020202020204" pitchFamily="34" charset="0"/>
              <a:buChar char="•"/>
            </a:pPr>
            <a:r>
              <a:rPr lang="en-US" dirty="0"/>
              <a:t>Reinforces large‑scale, centralized approaches</a:t>
            </a:r>
          </a:p>
          <a:p>
            <a:endParaRPr lang="en-US" dirty="0"/>
          </a:p>
        </p:txBody>
      </p:sp>
    </p:spTree>
    <p:extLst>
      <p:ext uri="{BB962C8B-B14F-4D97-AF65-F5344CB8AC3E}">
        <p14:creationId xmlns:p14="http://schemas.microsoft.com/office/powerpoint/2010/main" val="376080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09BD-1988-07A3-3A3D-B8D80C756838}"/>
              </a:ext>
            </a:extLst>
          </p:cNvPr>
          <p:cNvSpPr>
            <a:spLocks noGrp="1"/>
          </p:cNvSpPr>
          <p:nvPr>
            <p:ph type="title"/>
          </p:nvPr>
        </p:nvSpPr>
        <p:spPr/>
        <p:txBody>
          <a:bodyPr/>
          <a:lstStyle/>
          <a:p>
            <a:r>
              <a:rPr lang="en-US" dirty="0"/>
              <a:t>Self Perpetuating Cycles</a:t>
            </a:r>
          </a:p>
        </p:txBody>
      </p:sp>
      <p:sp>
        <p:nvSpPr>
          <p:cNvPr id="3" name="Content Placeholder 2">
            <a:extLst>
              <a:ext uri="{FF2B5EF4-FFF2-40B4-BE49-F238E27FC236}">
                <a16:creationId xmlns:a16="http://schemas.microsoft.com/office/drawing/2014/main" id="{78C79FAB-7F05-E574-93F2-5ED03F20245E}"/>
              </a:ext>
            </a:extLst>
          </p:cNvPr>
          <p:cNvSpPr>
            <a:spLocks noGrp="1"/>
          </p:cNvSpPr>
          <p:nvPr>
            <p:ph idx="1"/>
          </p:nvPr>
        </p:nvSpPr>
        <p:spPr>
          <a:xfrm>
            <a:off x="762000" y="1219200"/>
            <a:ext cx="7454900" cy="4572000"/>
          </a:xfrm>
        </p:spPr>
        <p:txBody>
          <a:bodyPr/>
          <a:lstStyle/>
          <a:p>
            <a:r>
              <a:rPr lang="en-US" b="1" dirty="0"/>
              <a:t>Compute infrastructure evolved to support growth of large language models</a:t>
            </a:r>
          </a:p>
          <a:p>
            <a:pPr lvl="1"/>
            <a:r>
              <a:rPr lang="en-US" b="1" dirty="0"/>
              <a:t>Hardware Lottery:  a research idea wins because it is the most suited  to the available hardware and software.  </a:t>
            </a:r>
          </a:p>
          <a:p>
            <a:r>
              <a:rPr lang="en-US" b="1" dirty="0"/>
              <a:t>=&gt; self perpetuating cycle: </a:t>
            </a:r>
          </a:p>
          <a:p>
            <a:pPr marL="0" indent="0">
              <a:buNone/>
            </a:pPr>
            <a:r>
              <a:rPr lang="en-US" b="1" dirty="0"/>
              <a:t>LLMs =&gt; bigger models =&gt; increased infrastructure =&gt; bigger models ….</a:t>
            </a:r>
          </a:p>
          <a:p>
            <a:pPr marL="0" indent="0" algn="ctr">
              <a:buNone/>
            </a:pPr>
            <a:endParaRPr lang="en-US" b="1" i="1" dirty="0"/>
          </a:p>
          <a:p>
            <a:pPr marL="0" indent="0" algn="ctr">
              <a:buNone/>
            </a:pPr>
            <a:r>
              <a:rPr lang="en-US" b="1" i="1" dirty="0"/>
              <a:t>Cost of straying from mainstream hardware </a:t>
            </a:r>
            <a:r>
              <a:rPr lang="en-US" b="1" i="1" dirty="0" err="1"/>
              <a:t>compatability</a:t>
            </a:r>
            <a:r>
              <a:rPr lang="en-US" b="1" i="1" dirty="0"/>
              <a:t> will increase</a:t>
            </a:r>
            <a:endParaRPr lang="en-US" i="1" dirty="0"/>
          </a:p>
          <a:p>
            <a:endParaRPr lang="en-US" dirty="0"/>
          </a:p>
        </p:txBody>
      </p:sp>
    </p:spTree>
    <p:extLst>
      <p:ext uri="{BB962C8B-B14F-4D97-AF65-F5344CB8AC3E}">
        <p14:creationId xmlns:p14="http://schemas.microsoft.com/office/powerpoint/2010/main" val="589349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A09BD-1988-07A3-3A3D-B8D80C756838}"/>
              </a:ext>
            </a:extLst>
          </p:cNvPr>
          <p:cNvSpPr>
            <a:spLocks noGrp="1"/>
          </p:cNvSpPr>
          <p:nvPr>
            <p:ph type="title"/>
          </p:nvPr>
        </p:nvSpPr>
        <p:spPr/>
        <p:txBody>
          <a:bodyPr/>
          <a:lstStyle/>
          <a:p>
            <a:r>
              <a:rPr lang="en-US" dirty="0"/>
              <a:t>Self Perpetuating Cycles</a:t>
            </a:r>
          </a:p>
        </p:txBody>
      </p:sp>
      <p:sp>
        <p:nvSpPr>
          <p:cNvPr id="3" name="Content Placeholder 2">
            <a:extLst>
              <a:ext uri="{FF2B5EF4-FFF2-40B4-BE49-F238E27FC236}">
                <a16:creationId xmlns:a16="http://schemas.microsoft.com/office/drawing/2014/main" id="{78C79FAB-7F05-E574-93F2-5ED03F20245E}"/>
              </a:ext>
            </a:extLst>
          </p:cNvPr>
          <p:cNvSpPr>
            <a:spLocks noGrp="1"/>
          </p:cNvSpPr>
          <p:nvPr>
            <p:ph idx="1"/>
          </p:nvPr>
        </p:nvSpPr>
        <p:spPr>
          <a:xfrm>
            <a:off x="685800" y="1219200"/>
            <a:ext cx="7848600" cy="4572000"/>
          </a:xfrm>
        </p:spPr>
        <p:txBody>
          <a:bodyPr/>
          <a:lstStyle/>
          <a:p>
            <a:r>
              <a:rPr lang="en-US" dirty="0"/>
              <a:t>Not just hardware but software infrastructure</a:t>
            </a:r>
          </a:p>
          <a:p>
            <a:pPr lvl="1"/>
            <a:r>
              <a:rPr lang="en-US" dirty="0"/>
              <a:t>Businesses invest and rely on stable software infrastructure</a:t>
            </a:r>
          </a:p>
          <a:p>
            <a:pPr lvl="2"/>
            <a:r>
              <a:rPr lang="en-US" dirty="0"/>
              <a:t>Resistance to retraining software developers</a:t>
            </a:r>
          </a:p>
          <a:p>
            <a:pPr lvl="2"/>
            <a:r>
              <a:rPr lang="en-US" dirty="0"/>
              <a:t>Resistance to “</a:t>
            </a:r>
            <a:r>
              <a:rPr lang="en-US" dirty="0" err="1"/>
              <a:t>reving</a:t>
            </a:r>
            <a:r>
              <a:rPr lang="en-US" dirty="0"/>
              <a:t>” up legacy code</a:t>
            </a:r>
          </a:p>
          <a:p>
            <a:pPr lvl="2"/>
            <a:r>
              <a:rPr lang="en-US" dirty="0"/>
              <a:t>Resistance to purchasing new soft. Infrastructure</a:t>
            </a:r>
          </a:p>
          <a:p>
            <a:r>
              <a:rPr lang="en-US" dirty="0"/>
              <a:t>Corporate Allegiance to the status quo</a:t>
            </a:r>
          </a:p>
          <a:p>
            <a:pPr marL="0" indent="0">
              <a:buNone/>
            </a:pPr>
            <a:endParaRPr lang="en-US" dirty="0"/>
          </a:p>
          <a:p>
            <a:pPr lvl="1"/>
            <a:endParaRPr lang="en-US" dirty="0"/>
          </a:p>
        </p:txBody>
      </p:sp>
    </p:spTree>
    <p:extLst>
      <p:ext uri="{BB962C8B-B14F-4D97-AF65-F5344CB8AC3E}">
        <p14:creationId xmlns:p14="http://schemas.microsoft.com/office/powerpoint/2010/main" val="2941011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GPU as ML ISA</a:t>
            </a:r>
          </a:p>
        </p:txBody>
      </p:sp>
      <p:sp>
        <p:nvSpPr>
          <p:cNvPr id="3" name="Content Placeholder 2"/>
          <p:cNvSpPr>
            <a:spLocks noGrp="1"/>
          </p:cNvSpPr>
          <p:nvPr>
            <p:ph idx="1"/>
          </p:nvPr>
        </p:nvSpPr>
        <p:spPr/>
        <p:txBody>
          <a:bodyPr/>
          <a:lstStyle/>
          <a:p>
            <a:r>
              <a:rPr dirty="0"/>
              <a:t>CUDA defines algorithm design</a:t>
            </a:r>
            <a:endParaRPr lang="en-US" dirty="0"/>
          </a:p>
          <a:p>
            <a:pPr lvl="1"/>
            <a:r>
              <a:rPr lang="en-US" dirty="0"/>
              <a:t>Resists Growth of Alternative Algorithmic Approaches</a:t>
            </a:r>
          </a:p>
          <a:p>
            <a:pPr lvl="2"/>
            <a:r>
              <a:rPr lang="en-US" dirty="0"/>
              <a:t>Small Language Models ?</a:t>
            </a:r>
            <a:endParaRPr dirty="0"/>
          </a:p>
          <a:p>
            <a:r>
              <a:rPr dirty="0"/>
              <a:t>Software lock-in reinforces hardware dominance</a:t>
            </a:r>
            <a:endParaRPr lang="en-US" dirty="0"/>
          </a:p>
          <a:p>
            <a:pPr lvl="2"/>
            <a:r>
              <a:rPr lang="en-US" dirty="0"/>
              <a:t>Corporations resist switching to alternative hardware base.</a:t>
            </a:r>
          </a:p>
          <a:p>
            <a:r>
              <a:rPr lang="en-US" dirty="0" err="1"/>
              <a:t>PyTorch</a:t>
            </a:r>
            <a:r>
              <a:rPr lang="en-US" dirty="0"/>
              <a:t> opensource initiative under Linux foundation funded by Meta</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344A2-C0D6-60CF-F2DC-9C74D3A07E29}"/>
              </a:ext>
            </a:extLst>
          </p:cNvPr>
          <p:cNvSpPr>
            <a:spLocks noGrp="1"/>
          </p:cNvSpPr>
          <p:nvPr>
            <p:ph type="title"/>
          </p:nvPr>
        </p:nvSpPr>
        <p:spPr/>
        <p:txBody>
          <a:bodyPr/>
          <a:lstStyle/>
          <a:p>
            <a:r>
              <a:rPr lang="en-US" dirty="0"/>
              <a:t>And the cycle continues</a:t>
            </a:r>
          </a:p>
        </p:txBody>
      </p:sp>
      <p:sp>
        <p:nvSpPr>
          <p:cNvPr id="3" name="Content Placeholder 2">
            <a:extLst>
              <a:ext uri="{FF2B5EF4-FFF2-40B4-BE49-F238E27FC236}">
                <a16:creationId xmlns:a16="http://schemas.microsoft.com/office/drawing/2014/main" id="{6763F7A5-EE07-E0CA-CA01-D1625091758D}"/>
              </a:ext>
            </a:extLst>
          </p:cNvPr>
          <p:cNvSpPr>
            <a:spLocks noGrp="1"/>
          </p:cNvSpPr>
          <p:nvPr>
            <p:ph idx="1"/>
          </p:nvPr>
        </p:nvSpPr>
        <p:spPr/>
        <p:txBody>
          <a:bodyPr/>
          <a:lstStyle/>
          <a:p>
            <a:r>
              <a:rPr lang="en-US" dirty="0"/>
              <a:t>More Demand causing shortage of GPUs</a:t>
            </a:r>
          </a:p>
          <a:p>
            <a:r>
              <a:rPr lang="en-US" dirty="0"/>
              <a:t>Start-ups enter AI race by making contractual arrangements with Big Tech firms.  </a:t>
            </a:r>
          </a:p>
          <a:p>
            <a:pPr lvl="1"/>
            <a:r>
              <a:rPr lang="en-US" dirty="0"/>
              <a:t>Grows dominance of existing firms</a:t>
            </a:r>
          </a:p>
          <a:p>
            <a:pPr lvl="1"/>
            <a:r>
              <a:rPr lang="en-US" dirty="0"/>
              <a:t>Google touted 70% of generative AI startups use Google cloud facilities. </a:t>
            </a:r>
          </a:p>
          <a:p>
            <a:r>
              <a:rPr lang="en-US" dirty="0"/>
              <a:t>Big Tech Firms</a:t>
            </a:r>
          </a:p>
          <a:p>
            <a:pPr lvl="1"/>
            <a:r>
              <a:rPr lang="en-US" dirty="0"/>
              <a:t>Need for more compute shaping future product decisions.  </a:t>
            </a:r>
          </a:p>
          <a:p>
            <a:pPr lvl="1"/>
            <a:endParaRPr lang="en-US" dirty="0"/>
          </a:p>
        </p:txBody>
      </p:sp>
    </p:spTree>
    <p:extLst>
      <p:ext uri="{BB962C8B-B14F-4D97-AF65-F5344CB8AC3E}">
        <p14:creationId xmlns:p14="http://schemas.microsoft.com/office/powerpoint/2010/main" val="2092480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Limits Innovation</a:t>
            </a:r>
            <a:endParaRPr dirty="0"/>
          </a:p>
        </p:txBody>
      </p:sp>
      <p:sp>
        <p:nvSpPr>
          <p:cNvPr id="3" name="Content Placeholder 2"/>
          <p:cNvSpPr>
            <a:spLocks noGrp="1"/>
          </p:cNvSpPr>
          <p:nvPr>
            <p:ph idx="1"/>
          </p:nvPr>
        </p:nvSpPr>
        <p:spPr/>
        <p:txBody>
          <a:bodyPr/>
          <a:lstStyle/>
          <a:p>
            <a:r>
              <a:rPr dirty="0"/>
              <a:t>Architectures mapping well to GPUs </a:t>
            </a:r>
            <a:r>
              <a:rPr lang="en-US" dirty="0"/>
              <a:t>do not just </a:t>
            </a:r>
            <a:r>
              <a:rPr dirty="0"/>
              <a:t>succeed</a:t>
            </a:r>
            <a:r>
              <a:rPr lang="en-US" dirty="0"/>
              <a:t> but proliferate</a:t>
            </a:r>
          </a:p>
          <a:p>
            <a:endParaRPr dirty="0"/>
          </a:p>
          <a:p>
            <a:r>
              <a:rPr dirty="0"/>
              <a:t>Alternatives lose mindshare</a:t>
            </a:r>
            <a:endParaRPr lang="en-US" dirty="0"/>
          </a:p>
          <a:p>
            <a:pPr lvl="1"/>
            <a:r>
              <a:rPr lang="en-US" dirty="0"/>
              <a:t>Modern day equivalent of resisting architectural novelty by relying on performance increases from Moore’s Law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C9CE5-5ED2-9F46-D9F1-AB9A23705A20}"/>
              </a:ext>
            </a:extLst>
          </p:cNvPr>
          <p:cNvSpPr>
            <a:spLocks noGrp="1"/>
          </p:cNvSpPr>
          <p:nvPr>
            <p:ph type="title"/>
          </p:nvPr>
        </p:nvSpPr>
        <p:spPr/>
        <p:txBody>
          <a:bodyPr/>
          <a:lstStyle/>
          <a:p>
            <a:r>
              <a:rPr lang="en-US" dirty="0"/>
              <a:t>Large-Scale AI Models</a:t>
            </a:r>
          </a:p>
        </p:txBody>
      </p:sp>
      <p:sp>
        <p:nvSpPr>
          <p:cNvPr id="3" name="Content Placeholder 2">
            <a:extLst>
              <a:ext uri="{FF2B5EF4-FFF2-40B4-BE49-F238E27FC236}">
                <a16:creationId xmlns:a16="http://schemas.microsoft.com/office/drawing/2014/main" id="{FE3F90E6-7520-7D7E-4680-6F96FF983119}"/>
              </a:ext>
            </a:extLst>
          </p:cNvPr>
          <p:cNvSpPr>
            <a:spLocks noGrp="1"/>
          </p:cNvSpPr>
          <p:nvPr>
            <p:ph idx="1"/>
          </p:nvPr>
        </p:nvSpPr>
        <p:spPr>
          <a:xfrm>
            <a:off x="844550" y="1524000"/>
            <a:ext cx="7689850" cy="4572000"/>
          </a:xfrm>
        </p:spPr>
        <p:txBody>
          <a:bodyPr/>
          <a:lstStyle/>
          <a:p>
            <a:r>
              <a:rPr lang="en-US" dirty="0"/>
              <a:t>How Much Compute and What Does it Cost</a:t>
            </a:r>
          </a:p>
          <a:p>
            <a:r>
              <a:rPr lang="en-US" dirty="0"/>
              <a:t>At current growth rate:  Compute costs in excess of entire US GDP by 2037</a:t>
            </a:r>
          </a:p>
          <a:p>
            <a:r>
              <a:rPr lang="en-US" dirty="0"/>
              <a:t>Training GPT-4 “Probably” More than ~$100 Million</a:t>
            </a:r>
          </a:p>
          <a:p>
            <a:endParaRPr lang="en-US" dirty="0"/>
          </a:p>
        </p:txBody>
      </p:sp>
    </p:spTree>
    <p:extLst>
      <p:ext uri="{BB962C8B-B14F-4D97-AF65-F5344CB8AC3E}">
        <p14:creationId xmlns:p14="http://schemas.microsoft.com/office/powerpoint/2010/main" val="2391698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3C0B5-E63B-C133-ABBA-E4FD761014FB}"/>
              </a:ext>
            </a:extLst>
          </p:cNvPr>
          <p:cNvSpPr>
            <a:spLocks noGrp="1"/>
          </p:cNvSpPr>
          <p:nvPr>
            <p:ph type="title"/>
          </p:nvPr>
        </p:nvSpPr>
        <p:spPr/>
        <p:txBody>
          <a:bodyPr/>
          <a:lstStyle/>
          <a:p>
            <a:r>
              <a:rPr lang="en-US" dirty="0"/>
              <a:t>Chips for large-scale AI</a:t>
            </a:r>
          </a:p>
        </p:txBody>
      </p:sp>
      <p:sp>
        <p:nvSpPr>
          <p:cNvPr id="3" name="Content Placeholder 2">
            <a:extLst>
              <a:ext uri="{FF2B5EF4-FFF2-40B4-BE49-F238E27FC236}">
                <a16:creationId xmlns:a16="http://schemas.microsoft.com/office/drawing/2014/main" id="{DFC412E7-B5E2-A8B3-606C-BFB7ED05D7C6}"/>
              </a:ext>
            </a:extLst>
          </p:cNvPr>
          <p:cNvSpPr>
            <a:spLocks noGrp="1"/>
          </p:cNvSpPr>
          <p:nvPr>
            <p:ph idx="1"/>
          </p:nvPr>
        </p:nvSpPr>
        <p:spPr/>
        <p:txBody>
          <a:bodyPr/>
          <a:lstStyle/>
          <a:p>
            <a:r>
              <a:rPr lang="en-US" dirty="0"/>
              <a:t>GPUs</a:t>
            </a:r>
          </a:p>
          <a:p>
            <a:pPr lvl="1"/>
            <a:r>
              <a:rPr lang="en-US" dirty="0"/>
              <a:t>Dominance in Training</a:t>
            </a:r>
          </a:p>
          <a:p>
            <a:r>
              <a:rPr lang="en-US" dirty="0"/>
              <a:t>Field Programmable Gate Arrays (FPGAs)</a:t>
            </a:r>
          </a:p>
          <a:p>
            <a:pPr lvl="1"/>
            <a:r>
              <a:rPr lang="en-US" dirty="0"/>
              <a:t>Arguments for:</a:t>
            </a:r>
          </a:p>
          <a:p>
            <a:pPr lvl="2"/>
            <a:r>
              <a:rPr lang="en-US" dirty="0"/>
              <a:t>Energy Efficiency</a:t>
            </a:r>
          </a:p>
          <a:p>
            <a:pPr lvl="2"/>
            <a:r>
              <a:rPr lang="en-US" dirty="0"/>
              <a:t>Flexibility</a:t>
            </a:r>
          </a:p>
          <a:p>
            <a:pPr lvl="1"/>
            <a:r>
              <a:rPr lang="en-US" dirty="0"/>
              <a:t>Arguments Against:</a:t>
            </a:r>
          </a:p>
          <a:p>
            <a:pPr lvl="2"/>
            <a:r>
              <a:rPr lang="en-US" dirty="0"/>
              <a:t>Lower Density/Performance</a:t>
            </a:r>
          </a:p>
          <a:p>
            <a:pPr lvl="2"/>
            <a:r>
              <a:rPr lang="en-US" dirty="0"/>
              <a:t>Lack of Software Centric Protocol Stack</a:t>
            </a:r>
          </a:p>
          <a:p>
            <a:r>
              <a:rPr lang="en-US" dirty="0"/>
              <a:t>ASICs</a:t>
            </a:r>
          </a:p>
          <a:p>
            <a:pPr lvl="1"/>
            <a:r>
              <a:rPr lang="en-US" dirty="0"/>
              <a:t>Cost</a:t>
            </a:r>
          </a:p>
          <a:p>
            <a:pPr lvl="1"/>
            <a:r>
              <a:rPr lang="en-US" dirty="0"/>
              <a:t>Software Infrastructure</a:t>
            </a:r>
          </a:p>
          <a:p>
            <a:pPr lvl="1"/>
            <a:r>
              <a:rPr lang="en-US" dirty="0"/>
              <a:t>Time to Market</a:t>
            </a:r>
          </a:p>
          <a:p>
            <a:pPr lvl="1"/>
            <a:endParaRPr lang="en-US" dirty="0"/>
          </a:p>
        </p:txBody>
      </p:sp>
    </p:spTree>
    <p:extLst>
      <p:ext uri="{BB962C8B-B14F-4D97-AF65-F5344CB8AC3E}">
        <p14:creationId xmlns:p14="http://schemas.microsoft.com/office/powerpoint/2010/main" val="2157094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3210F-4DE5-AD35-FEF3-5F75FD13E705}"/>
              </a:ext>
            </a:extLst>
          </p:cNvPr>
          <p:cNvSpPr>
            <a:spLocks noGrp="1"/>
          </p:cNvSpPr>
          <p:nvPr>
            <p:ph type="title"/>
          </p:nvPr>
        </p:nvSpPr>
        <p:spPr/>
        <p:txBody>
          <a:bodyPr/>
          <a:lstStyle/>
          <a:p>
            <a:r>
              <a:rPr lang="en-US" sz="3200" dirty="0"/>
              <a:t>Components of Computer Hardware</a:t>
            </a:r>
          </a:p>
        </p:txBody>
      </p:sp>
      <p:sp>
        <p:nvSpPr>
          <p:cNvPr id="3" name="Content Placeholder 2">
            <a:extLst>
              <a:ext uri="{FF2B5EF4-FFF2-40B4-BE49-F238E27FC236}">
                <a16:creationId xmlns:a16="http://schemas.microsoft.com/office/drawing/2014/main" id="{6DE1B57D-06EF-5579-0C36-406A22BCDB96}"/>
              </a:ext>
            </a:extLst>
          </p:cNvPr>
          <p:cNvSpPr>
            <a:spLocks noGrp="1"/>
          </p:cNvSpPr>
          <p:nvPr>
            <p:ph idx="1"/>
          </p:nvPr>
        </p:nvSpPr>
        <p:spPr/>
        <p:txBody>
          <a:bodyPr/>
          <a:lstStyle/>
          <a:p>
            <a:r>
              <a:rPr lang="en-US" dirty="0"/>
              <a:t>Logic</a:t>
            </a:r>
          </a:p>
          <a:p>
            <a:r>
              <a:rPr lang="en-US" dirty="0"/>
              <a:t>Memory </a:t>
            </a:r>
          </a:p>
          <a:p>
            <a:r>
              <a:rPr lang="en-US" dirty="0"/>
              <a:t>Interconnect</a:t>
            </a:r>
          </a:p>
          <a:p>
            <a:endParaRPr lang="en-US" dirty="0"/>
          </a:p>
          <a:p>
            <a:pPr marL="0" indent="0">
              <a:buNone/>
            </a:pPr>
            <a:r>
              <a:rPr lang="en-US" dirty="0"/>
              <a:t>In traditional CPUs, memory tends to account for over half the cost of a server setup. (badly worded in paper).  The cost of GPUs has memory seem cheaper </a:t>
            </a:r>
            <a:r>
              <a:rPr lang="en-US" dirty="0">
                <a:sym typeface="Wingdings" pitchFamily="2" charset="2"/>
              </a:rPr>
              <a:t> </a:t>
            </a:r>
            <a:endParaRPr lang="en-US" dirty="0"/>
          </a:p>
        </p:txBody>
      </p:sp>
    </p:spTree>
    <p:extLst>
      <p:ext uri="{BB962C8B-B14F-4D97-AF65-F5344CB8AC3E}">
        <p14:creationId xmlns:p14="http://schemas.microsoft.com/office/powerpoint/2010/main" val="1820833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dirty="0"/>
              <a:t>Quantitative Reality: Energy per Operation</a:t>
            </a:r>
          </a:p>
        </p:txBody>
      </p:sp>
      <p:sp>
        <p:nvSpPr>
          <p:cNvPr id="3" name="Content Placeholder 2"/>
          <p:cNvSpPr>
            <a:spLocks noGrp="1"/>
          </p:cNvSpPr>
          <p:nvPr>
            <p:ph idx="1"/>
          </p:nvPr>
        </p:nvSpPr>
        <p:spPr/>
        <p:txBody>
          <a:bodyPr/>
          <a:lstStyle/>
          <a:p>
            <a:endParaRPr lang="en-US" dirty="0"/>
          </a:p>
          <a:p>
            <a:r>
              <a:rPr dirty="0"/>
              <a:t>FP16 MAC: ~1–2 </a:t>
            </a:r>
            <a:r>
              <a:rPr dirty="0" err="1"/>
              <a:t>pJ</a:t>
            </a:r>
            <a:endParaRPr dirty="0"/>
          </a:p>
          <a:p>
            <a:endParaRPr lang="en-US" dirty="0"/>
          </a:p>
          <a:p>
            <a:r>
              <a:rPr dirty="0"/>
              <a:t>SRAM access (32b): ~5–10 </a:t>
            </a:r>
            <a:r>
              <a:rPr dirty="0" err="1"/>
              <a:t>pJ</a:t>
            </a:r>
            <a:endParaRPr dirty="0"/>
          </a:p>
          <a:p>
            <a:endParaRPr lang="en-US" dirty="0"/>
          </a:p>
          <a:p>
            <a:r>
              <a:rPr dirty="0"/>
              <a:t>DRAM access (32b): ~100–1000 </a:t>
            </a:r>
            <a:r>
              <a:rPr dirty="0" err="1"/>
              <a:t>pJ</a:t>
            </a:r>
            <a:endParaRPr dirty="0"/>
          </a:p>
        </p:txBody>
      </p:sp>
      <p:sp>
        <p:nvSpPr>
          <p:cNvPr id="5" name="TextBox 4">
            <a:extLst>
              <a:ext uri="{FF2B5EF4-FFF2-40B4-BE49-F238E27FC236}">
                <a16:creationId xmlns:a16="http://schemas.microsoft.com/office/drawing/2014/main" id="{42EC39B2-5D86-D630-F77D-EBB1DD1099A8}"/>
              </a:ext>
            </a:extLst>
          </p:cNvPr>
          <p:cNvSpPr txBox="1"/>
          <p:nvPr/>
        </p:nvSpPr>
        <p:spPr>
          <a:xfrm>
            <a:off x="1447800" y="5265003"/>
            <a:ext cx="6553200" cy="1077218"/>
          </a:xfrm>
          <a:prstGeom prst="rect">
            <a:avLst/>
          </a:prstGeom>
          <a:noFill/>
        </p:spPr>
        <p:txBody>
          <a:bodyPr wrap="square">
            <a:spAutoFit/>
          </a:bodyPr>
          <a:lstStyle/>
          <a:p>
            <a:pPr algn="ctr"/>
            <a:r>
              <a:rPr lang="en-US" sz="3200" i="1" dirty="0"/>
              <a:t>Arithmetic is effectively free</a:t>
            </a:r>
          </a:p>
          <a:p>
            <a:pPr algn="ctr"/>
            <a:r>
              <a:rPr lang="en-US" sz="3200" i="1" dirty="0"/>
              <a:t>Data movement dominates energy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DBBD4-68CF-E3B2-152D-6EC4B455846B}"/>
              </a:ext>
            </a:extLst>
          </p:cNvPr>
          <p:cNvSpPr>
            <a:spLocks noGrp="1"/>
          </p:cNvSpPr>
          <p:nvPr>
            <p:ph type="title"/>
          </p:nvPr>
        </p:nvSpPr>
        <p:spPr/>
        <p:txBody>
          <a:bodyPr/>
          <a:lstStyle/>
          <a:p>
            <a:r>
              <a:rPr lang="en-US" dirty="0"/>
              <a:t>Supply Chain for AI Hardware</a:t>
            </a:r>
          </a:p>
        </p:txBody>
      </p:sp>
      <p:pic>
        <p:nvPicPr>
          <p:cNvPr id="4" name="Picture 3">
            <a:extLst>
              <a:ext uri="{FF2B5EF4-FFF2-40B4-BE49-F238E27FC236}">
                <a16:creationId xmlns:a16="http://schemas.microsoft.com/office/drawing/2014/main" id="{A6A82448-DE43-69D0-F553-F54711ADF9F8}"/>
              </a:ext>
            </a:extLst>
          </p:cNvPr>
          <p:cNvPicPr>
            <a:picLocks noChangeAspect="1"/>
          </p:cNvPicPr>
          <p:nvPr/>
        </p:nvPicPr>
        <p:blipFill>
          <a:blip r:embed="rId2"/>
          <a:stretch>
            <a:fillRect/>
          </a:stretch>
        </p:blipFill>
        <p:spPr>
          <a:xfrm>
            <a:off x="685800" y="1524000"/>
            <a:ext cx="7772400" cy="2272795"/>
          </a:xfrm>
          <a:prstGeom prst="rect">
            <a:avLst/>
          </a:prstGeom>
        </p:spPr>
      </p:pic>
      <p:sp>
        <p:nvSpPr>
          <p:cNvPr id="5" name="TextBox 4">
            <a:extLst>
              <a:ext uri="{FF2B5EF4-FFF2-40B4-BE49-F238E27FC236}">
                <a16:creationId xmlns:a16="http://schemas.microsoft.com/office/drawing/2014/main" id="{AF9DA958-88BB-0D64-CC86-09D548313EA7}"/>
              </a:ext>
            </a:extLst>
          </p:cNvPr>
          <p:cNvSpPr txBox="1"/>
          <p:nvPr/>
        </p:nvSpPr>
        <p:spPr>
          <a:xfrm>
            <a:off x="762000" y="3830954"/>
            <a:ext cx="7597884" cy="769441"/>
          </a:xfrm>
          <a:prstGeom prst="rect">
            <a:avLst/>
          </a:prstGeom>
          <a:noFill/>
        </p:spPr>
        <p:txBody>
          <a:bodyPr wrap="square" rtlCol="0">
            <a:spAutoFit/>
          </a:bodyPr>
          <a:lstStyle/>
          <a:p>
            <a:r>
              <a:rPr lang="en-US" dirty="0"/>
              <a:t>Google: </a:t>
            </a:r>
            <a:r>
              <a:rPr lang="en-US" sz="2000" dirty="0"/>
              <a:t>TPU</a:t>
            </a:r>
            <a:r>
              <a:rPr lang="en-US" dirty="0"/>
              <a:t> </a:t>
            </a:r>
            <a:r>
              <a:rPr lang="en-US" sz="2000" dirty="0"/>
              <a:t>used to develop Google Gemini: software/hardware</a:t>
            </a:r>
          </a:p>
          <a:p>
            <a:r>
              <a:rPr lang="en-US" sz="2000" dirty="0"/>
              <a:t>integration impacts entire ecosystem leading to stronger monopolization</a:t>
            </a:r>
          </a:p>
        </p:txBody>
      </p:sp>
      <p:sp>
        <p:nvSpPr>
          <p:cNvPr id="6" name="TextBox 5">
            <a:extLst>
              <a:ext uri="{FF2B5EF4-FFF2-40B4-BE49-F238E27FC236}">
                <a16:creationId xmlns:a16="http://schemas.microsoft.com/office/drawing/2014/main" id="{78B38B1D-6339-1940-1ADA-E44B1B6CC4A4}"/>
              </a:ext>
            </a:extLst>
          </p:cNvPr>
          <p:cNvSpPr txBox="1"/>
          <p:nvPr/>
        </p:nvSpPr>
        <p:spPr>
          <a:xfrm>
            <a:off x="762001" y="4643735"/>
            <a:ext cx="7086600" cy="1077218"/>
          </a:xfrm>
          <a:prstGeom prst="rect">
            <a:avLst/>
          </a:prstGeom>
          <a:noFill/>
        </p:spPr>
        <p:txBody>
          <a:bodyPr wrap="square" rtlCol="0">
            <a:spAutoFit/>
          </a:bodyPr>
          <a:lstStyle/>
          <a:p>
            <a:r>
              <a:rPr lang="en-US" dirty="0"/>
              <a:t>Microsoft: </a:t>
            </a:r>
            <a:r>
              <a:rPr lang="en-US" sz="2000" dirty="0"/>
              <a:t>Athena =&gt; Maia 100 =&gt; Maia 200 </a:t>
            </a:r>
          </a:p>
          <a:p>
            <a:r>
              <a:rPr lang="en-US" sz="2000" dirty="0"/>
              <a:t>3 nm node FP8/FP4 cores, 216GB HBM3e at 7 TB/s and 272MB of on-chip SRAM</a:t>
            </a:r>
          </a:p>
        </p:txBody>
      </p:sp>
      <p:sp>
        <p:nvSpPr>
          <p:cNvPr id="7" name="TextBox 6">
            <a:extLst>
              <a:ext uri="{FF2B5EF4-FFF2-40B4-BE49-F238E27FC236}">
                <a16:creationId xmlns:a16="http://schemas.microsoft.com/office/drawing/2014/main" id="{4A0D7714-BE22-BAE2-C3AE-9CC51278986A}"/>
              </a:ext>
            </a:extLst>
          </p:cNvPr>
          <p:cNvSpPr txBox="1"/>
          <p:nvPr/>
        </p:nvSpPr>
        <p:spPr>
          <a:xfrm>
            <a:off x="946027" y="5786735"/>
            <a:ext cx="1949573" cy="461665"/>
          </a:xfrm>
          <a:prstGeom prst="rect">
            <a:avLst/>
          </a:prstGeom>
          <a:noFill/>
        </p:spPr>
        <p:txBody>
          <a:bodyPr wrap="none" rtlCol="0">
            <a:spAutoFit/>
          </a:bodyPr>
          <a:lstStyle/>
          <a:p>
            <a:r>
              <a:rPr lang="en-US" dirty="0"/>
              <a:t>AWS: </a:t>
            </a:r>
            <a:r>
              <a:rPr lang="en-US" sz="2000" dirty="0" err="1"/>
              <a:t>Trainium</a:t>
            </a:r>
            <a:endParaRPr lang="en-US" sz="2000" dirty="0"/>
          </a:p>
        </p:txBody>
      </p:sp>
    </p:spTree>
    <p:extLst>
      <p:ext uri="{BB962C8B-B14F-4D97-AF65-F5344CB8AC3E}">
        <p14:creationId xmlns:p14="http://schemas.microsoft.com/office/powerpoint/2010/main" val="3141374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30DC0-CBE5-7236-DDB8-96FF4C5C4284}"/>
              </a:ext>
            </a:extLst>
          </p:cNvPr>
          <p:cNvSpPr>
            <a:spLocks noGrp="1"/>
          </p:cNvSpPr>
          <p:nvPr>
            <p:ph type="title"/>
          </p:nvPr>
        </p:nvSpPr>
        <p:spPr/>
        <p:txBody>
          <a:bodyPr/>
          <a:lstStyle/>
          <a:p>
            <a:r>
              <a:rPr lang="en-US" dirty="0"/>
              <a:t>Market Dominance </a:t>
            </a:r>
          </a:p>
        </p:txBody>
      </p:sp>
      <p:sp>
        <p:nvSpPr>
          <p:cNvPr id="3" name="Content Placeholder 2">
            <a:extLst>
              <a:ext uri="{FF2B5EF4-FFF2-40B4-BE49-F238E27FC236}">
                <a16:creationId xmlns:a16="http://schemas.microsoft.com/office/drawing/2014/main" id="{D73CEB48-BA7A-DC12-0321-915869D163FB}"/>
              </a:ext>
            </a:extLst>
          </p:cNvPr>
          <p:cNvSpPr>
            <a:spLocks noGrp="1"/>
          </p:cNvSpPr>
          <p:nvPr>
            <p:ph idx="1"/>
          </p:nvPr>
        </p:nvSpPr>
        <p:spPr/>
        <p:txBody>
          <a:bodyPr/>
          <a:lstStyle/>
          <a:p>
            <a:r>
              <a:rPr lang="en-US" dirty="0"/>
              <a:t>Data Centers:</a:t>
            </a:r>
          </a:p>
          <a:p>
            <a:pPr lvl="1"/>
            <a:r>
              <a:rPr lang="en-US" dirty="0"/>
              <a:t>NVIDIA 92 -98% of Data Center Market</a:t>
            </a:r>
          </a:p>
          <a:p>
            <a:pPr lvl="1"/>
            <a:r>
              <a:rPr lang="en-US" dirty="0"/>
              <a:t>AMD 8- 2%</a:t>
            </a:r>
          </a:p>
          <a:p>
            <a:pPr lvl="1"/>
            <a:r>
              <a:rPr lang="en-US" dirty="0"/>
              <a:t>Intel &lt; 1%</a:t>
            </a:r>
          </a:p>
          <a:p>
            <a:endParaRPr lang="en-US" dirty="0"/>
          </a:p>
          <a:p>
            <a:r>
              <a:rPr lang="en-US" dirty="0"/>
              <a:t>Overall GPU Market: </a:t>
            </a:r>
          </a:p>
          <a:p>
            <a:pPr lvl="1"/>
            <a:r>
              <a:rPr lang="en-US" dirty="0"/>
              <a:t>NVIDIA 94%</a:t>
            </a:r>
          </a:p>
          <a:p>
            <a:pPr lvl="1"/>
            <a:r>
              <a:rPr lang="en-US" dirty="0"/>
              <a:t>AMD ~6%</a:t>
            </a:r>
          </a:p>
        </p:txBody>
      </p:sp>
    </p:spTree>
    <p:extLst>
      <p:ext uri="{BB962C8B-B14F-4D97-AF65-F5344CB8AC3E}">
        <p14:creationId xmlns:p14="http://schemas.microsoft.com/office/powerpoint/2010/main" val="1554845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2D9C-F14F-B1CD-6E09-2C16F65250D8}"/>
              </a:ext>
            </a:extLst>
          </p:cNvPr>
          <p:cNvSpPr>
            <a:spLocks noGrp="1"/>
          </p:cNvSpPr>
          <p:nvPr>
            <p:ph type="title"/>
          </p:nvPr>
        </p:nvSpPr>
        <p:spPr/>
        <p:txBody>
          <a:bodyPr/>
          <a:lstStyle/>
          <a:p>
            <a:r>
              <a:rPr lang="en-US" dirty="0"/>
              <a:t>New Entries</a:t>
            </a:r>
          </a:p>
        </p:txBody>
      </p:sp>
      <p:sp>
        <p:nvSpPr>
          <p:cNvPr id="3" name="Content Placeholder 2">
            <a:extLst>
              <a:ext uri="{FF2B5EF4-FFF2-40B4-BE49-F238E27FC236}">
                <a16:creationId xmlns:a16="http://schemas.microsoft.com/office/drawing/2014/main" id="{4072A8B7-622B-1A1B-750C-C341F0DC1A8A}"/>
              </a:ext>
            </a:extLst>
          </p:cNvPr>
          <p:cNvSpPr>
            <a:spLocks noGrp="1"/>
          </p:cNvSpPr>
          <p:nvPr>
            <p:ph idx="1"/>
          </p:nvPr>
        </p:nvSpPr>
        <p:spPr/>
        <p:txBody>
          <a:bodyPr/>
          <a:lstStyle/>
          <a:p>
            <a:r>
              <a:rPr lang="en-US" dirty="0" err="1"/>
              <a:t>Cerebras</a:t>
            </a:r>
            <a:r>
              <a:rPr lang="en-US" dirty="0"/>
              <a:t>:  Wafer Scale Integration</a:t>
            </a:r>
          </a:p>
          <a:p>
            <a:pPr lvl="1"/>
            <a:r>
              <a:rPr lang="en-US" dirty="0"/>
              <a:t>Bandwidth 10,000x </a:t>
            </a:r>
            <a:r>
              <a:rPr lang="en-US" dirty="0" err="1"/>
              <a:t>wrt</a:t>
            </a:r>
            <a:r>
              <a:rPr lang="en-US" dirty="0"/>
              <a:t> NVIDIA GPUs</a:t>
            </a:r>
          </a:p>
          <a:p>
            <a:r>
              <a:rPr lang="en-US" dirty="0"/>
              <a:t>Rain:  Neuromorphic Architecture</a:t>
            </a:r>
          </a:p>
          <a:p>
            <a:endParaRPr lang="en-US" dirty="0"/>
          </a:p>
          <a:p>
            <a:r>
              <a:rPr lang="en-US" dirty="0" err="1"/>
              <a:t>Groq</a:t>
            </a:r>
            <a:r>
              <a:rPr lang="en-US" dirty="0"/>
              <a:t>;  ”Partnership” with NVIDIA</a:t>
            </a:r>
          </a:p>
          <a:p>
            <a:pPr lvl="1"/>
            <a:r>
              <a:rPr lang="en-US" dirty="0" err="1"/>
              <a:t>Groq</a:t>
            </a:r>
            <a:r>
              <a:rPr lang="en-US" dirty="0"/>
              <a:t> hardware + CUDA infrastructure ?</a:t>
            </a:r>
          </a:p>
          <a:p>
            <a:pPr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2878716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880C4-BCE3-3F14-B5EB-8DB5FD39A793}"/>
              </a:ext>
            </a:extLst>
          </p:cNvPr>
          <p:cNvSpPr>
            <a:spLocks noGrp="1"/>
          </p:cNvSpPr>
          <p:nvPr>
            <p:ph type="title"/>
          </p:nvPr>
        </p:nvSpPr>
        <p:spPr>
          <a:xfrm>
            <a:off x="844550" y="533400"/>
            <a:ext cx="7454900" cy="838200"/>
          </a:xfrm>
        </p:spPr>
        <p:txBody>
          <a:bodyPr/>
          <a:lstStyle/>
          <a:p>
            <a:r>
              <a:rPr lang="en-US" dirty="0"/>
              <a:t>Investments in Self Interest</a:t>
            </a:r>
          </a:p>
        </p:txBody>
      </p:sp>
      <p:sp>
        <p:nvSpPr>
          <p:cNvPr id="3" name="Content Placeholder 2">
            <a:extLst>
              <a:ext uri="{FF2B5EF4-FFF2-40B4-BE49-F238E27FC236}">
                <a16:creationId xmlns:a16="http://schemas.microsoft.com/office/drawing/2014/main" id="{A0F15F61-5543-54C4-8B27-354872B00B98}"/>
              </a:ext>
            </a:extLst>
          </p:cNvPr>
          <p:cNvSpPr>
            <a:spLocks noGrp="1"/>
          </p:cNvSpPr>
          <p:nvPr>
            <p:ph idx="1"/>
          </p:nvPr>
        </p:nvSpPr>
        <p:spPr>
          <a:xfrm>
            <a:off x="844550" y="4724400"/>
            <a:ext cx="7454900" cy="838200"/>
          </a:xfrm>
        </p:spPr>
        <p:txBody>
          <a:bodyPr/>
          <a:lstStyle/>
          <a:p>
            <a:r>
              <a:rPr lang="en-US" sz="2400" dirty="0"/>
              <a:t>Microsoft invested in </a:t>
            </a:r>
            <a:r>
              <a:rPr lang="en-US" sz="2400" dirty="0" err="1"/>
              <a:t>OpenAI</a:t>
            </a:r>
            <a:r>
              <a:rPr lang="en-US" sz="2400" dirty="0"/>
              <a:t>, Azure exclusive provider for </a:t>
            </a:r>
            <a:r>
              <a:rPr lang="en-US" sz="2400" dirty="0" err="1"/>
              <a:t>OpenAI</a:t>
            </a:r>
            <a:r>
              <a:rPr lang="en-US" sz="2400" dirty="0"/>
              <a:t>.  </a:t>
            </a:r>
          </a:p>
          <a:p>
            <a:r>
              <a:rPr lang="en-US" sz="2400" dirty="0"/>
              <a:t>Microsoft AI Supercomputers built for </a:t>
            </a:r>
            <a:r>
              <a:rPr lang="en-US" sz="2400" dirty="0" err="1"/>
              <a:t>OpenAI</a:t>
            </a:r>
            <a:endParaRPr lang="en-US" sz="2400" dirty="0"/>
          </a:p>
        </p:txBody>
      </p:sp>
      <p:pic>
        <p:nvPicPr>
          <p:cNvPr id="4" name="Picture 3">
            <a:extLst>
              <a:ext uri="{FF2B5EF4-FFF2-40B4-BE49-F238E27FC236}">
                <a16:creationId xmlns:a16="http://schemas.microsoft.com/office/drawing/2014/main" id="{889E89D1-30BA-9550-939A-DF6625F3453F}"/>
              </a:ext>
            </a:extLst>
          </p:cNvPr>
          <p:cNvPicPr>
            <a:picLocks noChangeAspect="1"/>
          </p:cNvPicPr>
          <p:nvPr/>
        </p:nvPicPr>
        <p:blipFill>
          <a:blip r:embed="rId2"/>
          <a:stretch>
            <a:fillRect/>
          </a:stretch>
        </p:blipFill>
        <p:spPr>
          <a:xfrm>
            <a:off x="685800" y="1524000"/>
            <a:ext cx="7772400" cy="3268666"/>
          </a:xfrm>
          <a:prstGeom prst="rect">
            <a:avLst/>
          </a:prstGeom>
        </p:spPr>
      </p:pic>
    </p:spTree>
    <p:extLst>
      <p:ext uri="{BB962C8B-B14F-4D97-AF65-F5344CB8AC3E}">
        <p14:creationId xmlns:p14="http://schemas.microsoft.com/office/powerpoint/2010/main" val="814932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15F61-5543-54C4-8B27-354872B00B98}"/>
              </a:ext>
            </a:extLst>
          </p:cNvPr>
          <p:cNvSpPr>
            <a:spLocks noGrp="1"/>
          </p:cNvSpPr>
          <p:nvPr>
            <p:ph idx="1"/>
          </p:nvPr>
        </p:nvSpPr>
        <p:spPr>
          <a:xfrm>
            <a:off x="844550" y="4724400"/>
            <a:ext cx="7454900" cy="838200"/>
          </a:xfrm>
        </p:spPr>
        <p:txBody>
          <a:bodyPr/>
          <a:lstStyle/>
          <a:p>
            <a:r>
              <a:rPr lang="en-US" sz="2400" dirty="0"/>
              <a:t>Google Brain Team and DeepMind fully integrated into Google DeepMind.  </a:t>
            </a:r>
          </a:p>
          <a:p>
            <a:r>
              <a:rPr lang="en-US" sz="2400" dirty="0"/>
              <a:t>Amazon entered into partnerships with open source model developers and platforms.</a:t>
            </a:r>
          </a:p>
        </p:txBody>
      </p:sp>
      <p:pic>
        <p:nvPicPr>
          <p:cNvPr id="4" name="Picture 3">
            <a:extLst>
              <a:ext uri="{FF2B5EF4-FFF2-40B4-BE49-F238E27FC236}">
                <a16:creationId xmlns:a16="http://schemas.microsoft.com/office/drawing/2014/main" id="{889E89D1-30BA-9550-939A-DF6625F3453F}"/>
              </a:ext>
            </a:extLst>
          </p:cNvPr>
          <p:cNvPicPr>
            <a:picLocks noChangeAspect="1"/>
          </p:cNvPicPr>
          <p:nvPr/>
        </p:nvPicPr>
        <p:blipFill>
          <a:blip r:embed="rId2"/>
          <a:stretch>
            <a:fillRect/>
          </a:stretch>
        </p:blipFill>
        <p:spPr>
          <a:xfrm>
            <a:off x="685800" y="1524000"/>
            <a:ext cx="7772400" cy="3268666"/>
          </a:xfrm>
          <a:prstGeom prst="rect">
            <a:avLst/>
          </a:prstGeom>
        </p:spPr>
      </p:pic>
      <p:sp>
        <p:nvSpPr>
          <p:cNvPr id="2" name="Title 1">
            <a:extLst>
              <a:ext uri="{FF2B5EF4-FFF2-40B4-BE49-F238E27FC236}">
                <a16:creationId xmlns:a16="http://schemas.microsoft.com/office/drawing/2014/main" id="{4CE2FB48-40E7-6D6B-EE7D-94097BFE7527}"/>
              </a:ext>
            </a:extLst>
          </p:cNvPr>
          <p:cNvSpPr>
            <a:spLocks noGrp="1"/>
          </p:cNvSpPr>
          <p:nvPr>
            <p:ph type="title"/>
          </p:nvPr>
        </p:nvSpPr>
        <p:spPr>
          <a:xfrm>
            <a:off x="844550" y="533400"/>
            <a:ext cx="7454900" cy="838200"/>
          </a:xfrm>
        </p:spPr>
        <p:txBody>
          <a:bodyPr/>
          <a:lstStyle/>
          <a:p>
            <a:r>
              <a:rPr lang="en-US" dirty="0"/>
              <a:t>Investments in Self Interest</a:t>
            </a:r>
          </a:p>
        </p:txBody>
      </p:sp>
    </p:spTree>
    <p:extLst>
      <p:ext uri="{BB962C8B-B14F-4D97-AF65-F5344CB8AC3E}">
        <p14:creationId xmlns:p14="http://schemas.microsoft.com/office/powerpoint/2010/main" val="2054610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15F61-5543-54C4-8B27-354872B00B98}"/>
              </a:ext>
            </a:extLst>
          </p:cNvPr>
          <p:cNvSpPr>
            <a:spLocks noGrp="1"/>
          </p:cNvSpPr>
          <p:nvPr>
            <p:ph idx="1"/>
          </p:nvPr>
        </p:nvSpPr>
        <p:spPr>
          <a:xfrm>
            <a:off x="844550" y="4724400"/>
            <a:ext cx="7454900" cy="838200"/>
          </a:xfrm>
        </p:spPr>
        <p:txBody>
          <a:bodyPr/>
          <a:lstStyle/>
          <a:p>
            <a:r>
              <a:rPr lang="en-US" sz="2400" dirty="0"/>
              <a:t>Oracle offers compute credit to AI startups</a:t>
            </a:r>
          </a:p>
        </p:txBody>
      </p:sp>
      <p:pic>
        <p:nvPicPr>
          <p:cNvPr id="4" name="Picture 3">
            <a:extLst>
              <a:ext uri="{FF2B5EF4-FFF2-40B4-BE49-F238E27FC236}">
                <a16:creationId xmlns:a16="http://schemas.microsoft.com/office/drawing/2014/main" id="{889E89D1-30BA-9550-939A-DF6625F3453F}"/>
              </a:ext>
            </a:extLst>
          </p:cNvPr>
          <p:cNvPicPr>
            <a:picLocks noChangeAspect="1"/>
          </p:cNvPicPr>
          <p:nvPr/>
        </p:nvPicPr>
        <p:blipFill>
          <a:blip r:embed="rId2"/>
          <a:stretch>
            <a:fillRect/>
          </a:stretch>
        </p:blipFill>
        <p:spPr>
          <a:xfrm>
            <a:off x="685800" y="1524000"/>
            <a:ext cx="7772400" cy="3268666"/>
          </a:xfrm>
          <a:prstGeom prst="rect">
            <a:avLst/>
          </a:prstGeom>
        </p:spPr>
      </p:pic>
      <p:sp>
        <p:nvSpPr>
          <p:cNvPr id="2" name="Content Placeholder 2">
            <a:extLst>
              <a:ext uri="{FF2B5EF4-FFF2-40B4-BE49-F238E27FC236}">
                <a16:creationId xmlns:a16="http://schemas.microsoft.com/office/drawing/2014/main" id="{89F99D88-04B8-149D-99E9-42A3EB5EBFC8}"/>
              </a:ext>
            </a:extLst>
          </p:cNvPr>
          <p:cNvSpPr txBox="1">
            <a:spLocks/>
          </p:cNvSpPr>
          <p:nvPr/>
        </p:nvSpPr>
        <p:spPr bwMode="auto">
          <a:xfrm>
            <a:off x="838200" y="5486400"/>
            <a:ext cx="74549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SzPct val="100000"/>
              <a:buChar char="•"/>
              <a:defRPr sz="2800">
                <a:solidFill>
                  <a:schemeClr val="tx1"/>
                </a:solidFill>
                <a:latin typeface="+mn-lt"/>
                <a:ea typeface="ＭＳ Ｐゴシック" pitchFamily="-110" charset="-128"/>
                <a:cs typeface="ＭＳ Ｐゴシック" pitchFamily="-110" charset="-128"/>
              </a:defRPr>
            </a:lvl1pPr>
            <a:lvl2pPr marL="742950" indent="-285750" algn="l" rtl="0" eaLnBrk="0" fontAlgn="base" hangingPunct="0">
              <a:spcBef>
                <a:spcPct val="20000"/>
              </a:spcBef>
              <a:spcAft>
                <a:spcPct val="0"/>
              </a:spcAft>
              <a:buSzPct val="100000"/>
              <a:buChar char="•"/>
              <a:defRPr sz="2000">
                <a:solidFill>
                  <a:schemeClr val="tx1"/>
                </a:solidFill>
                <a:latin typeface="+mn-lt"/>
                <a:ea typeface="ＭＳ Ｐゴシック" pitchFamily="-110" charset="-128"/>
                <a:cs typeface="ＭＳ Ｐゴシック" charset="-128"/>
              </a:defRPr>
            </a:lvl2pPr>
            <a:lvl3pPr marL="1143000" indent="-228600" algn="l" rtl="0" eaLnBrk="0" fontAlgn="base" hangingPunct="0">
              <a:spcBef>
                <a:spcPct val="20000"/>
              </a:spcBef>
              <a:spcAft>
                <a:spcPct val="0"/>
              </a:spcAft>
              <a:buSzPct val="100000"/>
              <a:buChar char="–"/>
              <a:defRPr sz="2000">
                <a:solidFill>
                  <a:schemeClr val="tx1"/>
                </a:solidFill>
                <a:latin typeface="+mn-lt"/>
                <a:ea typeface="ＭＳ Ｐゴシック" pitchFamily="-110" charset="-128"/>
                <a:cs typeface="ＭＳ Ｐゴシック" charset="-128"/>
              </a:defRPr>
            </a:lvl3pPr>
            <a:lvl4pPr marL="16002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cs typeface="ＭＳ Ｐゴシック" charset="-128"/>
              </a:defRPr>
            </a:lvl4pPr>
            <a:lvl5pPr marL="20574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cs typeface="ＭＳ Ｐゴシック" charset="-128"/>
              </a:defRPr>
            </a:lvl5pPr>
            <a:lvl6pPr marL="25146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6pPr>
            <a:lvl7pPr marL="29718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7pPr>
            <a:lvl8pPr marL="34290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8pPr>
            <a:lvl9pPr marL="3886200" indent="-228600" algn="l" rtl="0" eaLnBrk="0" fontAlgn="base" hangingPunct="0">
              <a:spcBef>
                <a:spcPct val="20000"/>
              </a:spcBef>
              <a:spcAft>
                <a:spcPct val="0"/>
              </a:spcAft>
              <a:buSzPct val="100000"/>
              <a:buChar char="•"/>
              <a:defRPr>
                <a:solidFill>
                  <a:schemeClr val="tx1"/>
                </a:solidFill>
                <a:latin typeface="+mn-lt"/>
                <a:ea typeface="ＭＳ Ｐゴシック" pitchFamily="-110" charset="-128"/>
              </a:defRPr>
            </a:lvl9pPr>
          </a:lstStyle>
          <a:p>
            <a:r>
              <a:rPr lang="en-US" sz="2400" kern="0" dirty="0"/>
              <a:t>Cloud companies invest in AI service companies</a:t>
            </a:r>
          </a:p>
        </p:txBody>
      </p:sp>
      <p:sp>
        <p:nvSpPr>
          <p:cNvPr id="6" name="Title 1">
            <a:extLst>
              <a:ext uri="{FF2B5EF4-FFF2-40B4-BE49-F238E27FC236}">
                <a16:creationId xmlns:a16="http://schemas.microsoft.com/office/drawing/2014/main" id="{422DD2E7-DDD7-F484-4149-C0929F80863F}"/>
              </a:ext>
            </a:extLst>
          </p:cNvPr>
          <p:cNvSpPr>
            <a:spLocks noGrp="1"/>
          </p:cNvSpPr>
          <p:nvPr>
            <p:ph type="title"/>
          </p:nvPr>
        </p:nvSpPr>
        <p:spPr>
          <a:xfrm>
            <a:off x="844550" y="533400"/>
            <a:ext cx="7454900" cy="838200"/>
          </a:xfrm>
        </p:spPr>
        <p:txBody>
          <a:bodyPr/>
          <a:lstStyle/>
          <a:p>
            <a:r>
              <a:rPr lang="en-US" dirty="0"/>
              <a:t>Investments in Self Interest</a:t>
            </a:r>
          </a:p>
        </p:txBody>
      </p:sp>
    </p:spTree>
    <p:extLst>
      <p:ext uri="{BB962C8B-B14F-4D97-AF65-F5344CB8AC3E}">
        <p14:creationId xmlns:p14="http://schemas.microsoft.com/office/powerpoint/2010/main" val="693986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E4D79-8D1C-8EDE-BE98-52A27CCADEB9}"/>
              </a:ext>
            </a:extLst>
          </p:cNvPr>
          <p:cNvSpPr>
            <a:spLocks noGrp="1"/>
          </p:cNvSpPr>
          <p:nvPr>
            <p:ph type="title"/>
          </p:nvPr>
        </p:nvSpPr>
        <p:spPr/>
        <p:txBody>
          <a:bodyPr/>
          <a:lstStyle/>
          <a:p>
            <a:r>
              <a:rPr lang="en-US" dirty="0"/>
              <a:t>How to Reduce Compute Costs</a:t>
            </a:r>
          </a:p>
        </p:txBody>
      </p:sp>
      <p:sp>
        <p:nvSpPr>
          <p:cNvPr id="3" name="Content Placeholder 2">
            <a:extLst>
              <a:ext uri="{FF2B5EF4-FFF2-40B4-BE49-F238E27FC236}">
                <a16:creationId xmlns:a16="http://schemas.microsoft.com/office/drawing/2014/main" id="{A876C3A0-17AD-7442-A93C-FD7546CAE979}"/>
              </a:ext>
            </a:extLst>
          </p:cNvPr>
          <p:cNvSpPr>
            <a:spLocks noGrp="1"/>
          </p:cNvSpPr>
          <p:nvPr>
            <p:ph idx="1"/>
          </p:nvPr>
        </p:nvSpPr>
        <p:spPr/>
        <p:txBody>
          <a:bodyPr/>
          <a:lstStyle/>
          <a:p>
            <a:r>
              <a:rPr lang="en-US" dirty="0"/>
              <a:t>Don’t Count on Moore’s Law </a:t>
            </a:r>
            <a:r>
              <a:rPr lang="en-US" dirty="0">
                <a:sym typeface="Wingdings" pitchFamily="2" charset="2"/>
              </a:rPr>
              <a:t> </a:t>
            </a:r>
          </a:p>
          <a:p>
            <a:r>
              <a:rPr lang="en-US" dirty="0">
                <a:sym typeface="Wingdings" pitchFamily="2" charset="2"/>
              </a:rPr>
              <a:t>New Algorithms: Smaller Models</a:t>
            </a:r>
          </a:p>
          <a:p>
            <a:r>
              <a:rPr lang="en-US" dirty="0">
                <a:sym typeface="Wingdings" pitchFamily="2" charset="2"/>
              </a:rPr>
              <a:t>Paradigm Shifts and Breakthroughs</a:t>
            </a:r>
          </a:p>
          <a:p>
            <a:pPr lvl="1"/>
            <a:r>
              <a:rPr lang="en-US" dirty="0">
                <a:sym typeface="Wingdings" pitchFamily="2" charset="2"/>
              </a:rPr>
              <a:t>Memory bottleneck:   New Memory Technology could provide significant breakthrough.</a:t>
            </a:r>
          </a:p>
          <a:p>
            <a:pPr lvl="1"/>
            <a:r>
              <a:rPr lang="en-US" dirty="0">
                <a:sym typeface="Wingdings" pitchFamily="2" charset="2"/>
              </a:rPr>
              <a:t>New Heterogeneous Technologies:  Nanotech + CMOS</a:t>
            </a:r>
          </a:p>
          <a:p>
            <a:pPr lvl="1"/>
            <a:r>
              <a:rPr lang="en-US" dirty="0">
                <a:sym typeface="Wingdings" pitchFamily="2" charset="2"/>
              </a:rPr>
              <a:t>New Architectures:  Processor in Memory (PIM), Neuromorphic, Quantum, analog computing architectures</a:t>
            </a:r>
          </a:p>
          <a:p>
            <a:pPr lvl="1"/>
            <a:endParaRPr lang="en-US" dirty="0">
              <a:sym typeface="Wingdings" pitchFamily="2" charset="2"/>
            </a:endParaRPr>
          </a:p>
          <a:p>
            <a:endParaRPr lang="en-US" dirty="0"/>
          </a:p>
        </p:txBody>
      </p:sp>
    </p:spTree>
    <p:extLst>
      <p:ext uri="{BB962C8B-B14F-4D97-AF65-F5344CB8AC3E}">
        <p14:creationId xmlns:p14="http://schemas.microsoft.com/office/powerpoint/2010/main" val="171045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1DD1-A958-30DB-90D3-17E768C13F48}"/>
              </a:ext>
            </a:extLst>
          </p:cNvPr>
          <p:cNvSpPr>
            <a:spLocks noGrp="1"/>
          </p:cNvSpPr>
          <p:nvPr>
            <p:ph type="title"/>
          </p:nvPr>
        </p:nvSpPr>
        <p:spPr/>
        <p:txBody>
          <a:bodyPr/>
          <a:lstStyle/>
          <a:p>
            <a:r>
              <a:rPr lang="en-US" dirty="0"/>
              <a:t>Policy considerations</a:t>
            </a:r>
          </a:p>
        </p:txBody>
      </p:sp>
      <p:sp>
        <p:nvSpPr>
          <p:cNvPr id="3" name="Content Placeholder 2">
            <a:extLst>
              <a:ext uri="{FF2B5EF4-FFF2-40B4-BE49-F238E27FC236}">
                <a16:creationId xmlns:a16="http://schemas.microsoft.com/office/drawing/2014/main" id="{4FBB58F9-5FAE-79C6-010A-1FC40FEC3F3B}"/>
              </a:ext>
            </a:extLst>
          </p:cNvPr>
          <p:cNvSpPr>
            <a:spLocks noGrp="1"/>
          </p:cNvSpPr>
          <p:nvPr>
            <p:ph idx="1"/>
          </p:nvPr>
        </p:nvSpPr>
        <p:spPr/>
        <p:txBody>
          <a:bodyPr/>
          <a:lstStyle/>
          <a:p>
            <a:r>
              <a:rPr lang="en-US" dirty="0"/>
              <a:t>Antitrust: Continued Vertical Integration reinforces Hardware Lottery grip:</a:t>
            </a:r>
          </a:p>
          <a:p>
            <a:pPr lvl="1"/>
            <a:r>
              <a:rPr lang="en-US" dirty="0"/>
              <a:t>Separate Cloud Provision from Chip Design</a:t>
            </a:r>
          </a:p>
          <a:p>
            <a:pPr lvl="1"/>
            <a:r>
              <a:rPr lang="en-US" dirty="0"/>
              <a:t>Separate Hardware from Software, or mandate interoperability</a:t>
            </a:r>
          </a:p>
          <a:p>
            <a:pPr lvl="1"/>
            <a:r>
              <a:rPr lang="en-US" dirty="0"/>
              <a:t>Separate AI Model Development from Cloud </a:t>
            </a:r>
            <a:r>
              <a:rPr lang="en-US" dirty="0" err="1"/>
              <a:t>Infratructure</a:t>
            </a:r>
            <a:endParaRPr lang="en-US" dirty="0"/>
          </a:p>
          <a:p>
            <a:pPr lvl="1"/>
            <a:r>
              <a:rPr lang="en-US" dirty="0"/>
              <a:t>Institute Nondiscrimination or Common </a:t>
            </a:r>
            <a:r>
              <a:rPr lang="en-US" dirty="0" err="1"/>
              <a:t>Carier</a:t>
            </a:r>
            <a:r>
              <a:rPr lang="en-US" dirty="0"/>
              <a:t> Obligations Across Tech Stack</a:t>
            </a:r>
          </a:p>
          <a:p>
            <a:pPr lvl="1"/>
            <a:r>
              <a:rPr lang="en-US" dirty="0"/>
              <a:t>Prevent Further Market Concentration</a:t>
            </a:r>
          </a:p>
          <a:p>
            <a:pPr lvl="1"/>
            <a:r>
              <a:rPr lang="en-US" dirty="0"/>
              <a:t>Investigate Anticompetitive Conduct</a:t>
            </a:r>
          </a:p>
          <a:p>
            <a:pPr lvl="1"/>
            <a:r>
              <a:rPr lang="en-US" dirty="0"/>
              <a:t>Apply Existing Antitrust Principles to AI Compute Markets</a:t>
            </a:r>
          </a:p>
          <a:p>
            <a:pPr lvl="1"/>
            <a:endParaRPr lang="en-US" dirty="0"/>
          </a:p>
        </p:txBody>
      </p:sp>
    </p:spTree>
    <p:extLst>
      <p:ext uri="{BB962C8B-B14F-4D97-AF65-F5344CB8AC3E}">
        <p14:creationId xmlns:p14="http://schemas.microsoft.com/office/powerpoint/2010/main" val="92149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13B73-5437-6D87-2D24-DEBF897DB144}"/>
              </a:ext>
            </a:extLst>
          </p:cNvPr>
          <p:cNvSpPr>
            <a:spLocks noGrp="1"/>
          </p:cNvSpPr>
          <p:nvPr>
            <p:ph type="title"/>
          </p:nvPr>
        </p:nvSpPr>
        <p:spPr/>
        <p:txBody>
          <a:bodyPr/>
          <a:lstStyle/>
          <a:p>
            <a:r>
              <a:rPr lang="en-US" dirty="0"/>
              <a:t>Data Minimization</a:t>
            </a:r>
          </a:p>
        </p:txBody>
      </p:sp>
      <p:sp>
        <p:nvSpPr>
          <p:cNvPr id="3" name="Content Placeholder 2">
            <a:extLst>
              <a:ext uri="{FF2B5EF4-FFF2-40B4-BE49-F238E27FC236}">
                <a16:creationId xmlns:a16="http://schemas.microsoft.com/office/drawing/2014/main" id="{6E2CEFB0-479E-66D7-3143-BC5FABD2E5D3}"/>
              </a:ext>
            </a:extLst>
          </p:cNvPr>
          <p:cNvSpPr>
            <a:spLocks noGrp="1"/>
          </p:cNvSpPr>
          <p:nvPr>
            <p:ph idx="1"/>
          </p:nvPr>
        </p:nvSpPr>
        <p:spPr/>
        <p:txBody>
          <a:bodyPr/>
          <a:lstStyle/>
          <a:p>
            <a:r>
              <a:rPr lang="en-US" dirty="0"/>
              <a:t>Data and Compute are separate inputs to AI.</a:t>
            </a:r>
          </a:p>
          <a:p>
            <a:pPr lvl="1"/>
            <a:r>
              <a:rPr lang="en-US" dirty="0"/>
              <a:t>Scaling laws limit amount of data that can be efficiently used with a given amount of compute, exclusive data access becomes increasingly important as freely available internet data runs out.</a:t>
            </a:r>
          </a:p>
          <a:p>
            <a:pPr lvl="2"/>
            <a:r>
              <a:rPr lang="en-US" dirty="0"/>
              <a:t>Freely available data already used</a:t>
            </a:r>
          </a:p>
          <a:p>
            <a:pPr lvl="2"/>
            <a:r>
              <a:rPr lang="en-US" dirty="0"/>
              <a:t>Newly produced data is starting to be protected by more platforms.  </a:t>
            </a:r>
          </a:p>
          <a:p>
            <a:pPr lvl="3"/>
            <a:r>
              <a:rPr lang="en-US" dirty="0"/>
              <a:t>Reddit, Twitter have implemented protections against free use of data from their platforms. </a:t>
            </a:r>
          </a:p>
          <a:p>
            <a:pPr lvl="3"/>
            <a:r>
              <a:rPr lang="en-US" dirty="0"/>
              <a:t>Relative value of internet data declining as it features more AI-generated content.</a:t>
            </a:r>
          </a:p>
          <a:p>
            <a:pPr lvl="1"/>
            <a:endParaRPr lang="en-US" dirty="0"/>
          </a:p>
        </p:txBody>
      </p:sp>
    </p:spTree>
    <p:extLst>
      <p:ext uri="{BB962C8B-B14F-4D97-AF65-F5344CB8AC3E}">
        <p14:creationId xmlns:p14="http://schemas.microsoft.com/office/powerpoint/2010/main" val="1924167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13B73-5437-6D87-2D24-DEBF897DB144}"/>
              </a:ext>
            </a:extLst>
          </p:cNvPr>
          <p:cNvSpPr>
            <a:spLocks noGrp="1"/>
          </p:cNvSpPr>
          <p:nvPr>
            <p:ph type="title"/>
          </p:nvPr>
        </p:nvSpPr>
        <p:spPr/>
        <p:txBody>
          <a:bodyPr/>
          <a:lstStyle/>
          <a:p>
            <a:r>
              <a:rPr lang="en-US" dirty="0"/>
              <a:t>Data Minimization</a:t>
            </a:r>
          </a:p>
        </p:txBody>
      </p:sp>
      <p:sp>
        <p:nvSpPr>
          <p:cNvPr id="3" name="Content Placeholder 2">
            <a:extLst>
              <a:ext uri="{FF2B5EF4-FFF2-40B4-BE49-F238E27FC236}">
                <a16:creationId xmlns:a16="http://schemas.microsoft.com/office/drawing/2014/main" id="{6E2CEFB0-479E-66D7-3143-BC5FABD2E5D3}"/>
              </a:ext>
            </a:extLst>
          </p:cNvPr>
          <p:cNvSpPr>
            <a:spLocks noGrp="1"/>
          </p:cNvSpPr>
          <p:nvPr>
            <p:ph idx="1"/>
          </p:nvPr>
        </p:nvSpPr>
        <p:spPr/>
        <p:txBody>
          <a:bodyPr/>
          <a:lstStyle/>
          <a:p>
            <a:r>
              <a:rPr lang="en-US" dirty="0"/>
              <a:t>Embrace data-minimization mandates, prohibit collection/processing of sensitive data</a:t>
            </a:r>
          </a:p>
          <a:p>
            <a:r>
              <a:rPr lang="en-US" dirty="0"/>
              <a:t>Prohibit secondary use of data collected from consumers for training AI models as violation over consumer control of </a:t>
            </a:r>
            <a:r>
              <a:rPr lang="en-US"/>
              <a:t>personal data.</a:t>
            </a:r>
            <a:endParaRPr lang="en-US" dirty="0"/>
          </a:p>
          <a:p>
            <a:pPr lvl="1"/>
            <a:endParaRPr lang="en-US" dirty="0"/>
          </a:p>
        </p:txBody>
      </p:sp>
    </p:spTree>
    <p:extLst>
      <p:ext uri="{BB962C8B-B14F-4D97-AF65-F5344CB8AC3E}">
        <p14:creationId xmlns:p14="http://schemas.microsoft.com/office/powerpoint/2010/main" val="1352686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Bandwidth Wall</a:t>
            </a:r>
          </a:p>
        </p:txBody>
      </p:sp>
      <p:sp>
        <p:nvSpPr>
          <p:cNvPr id="3" name="Content Placeholder 2"/>
          <p:cNvSpPr>
            <a:spLocks noGrp="1"/>
          </p:cNvSpPr>
          <p:nvPr>
            <p:ph idx="1"/>
          </p:nvPr>
        </p:nvSpPr>
        <p:spPr/>
        <p:txBody>
          <a:bodyPr/>
          <a:lstStyle/>
          <a:p>
            <a:r>
              <a:t>HBM ~3–6 TB/s per package</a:t>
            </a:r>
          </a:p>
          <a:p>
            <a:r>
              <a:t>On-chip demand growing faster than bandwidth</a:t>
            </a:r>
          </a:p>
          <a:p>
            <a:r>
              <a:t>Utilization collapses without locality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Roofline Perspective</a:t>
            </a:r>
          </a:p>
        </p:txBody>
      </p:sp>
      <p:sp>
        <p:nvSpPr>
          <p:cNvPr id="3" name="Content Placeholder 2"/>
          <p:cNvSpPr>
            <a:spLocks noGrp="1"/>
          </p:cNvSpPr>
          <p:nvPr>
            <p:ph idx="1"/>
          </p:nvPr>
        </p:nvSpPr>
        <p:spPr/>
        <p:txBody>
          <a:bodyPr/>
          <a:lstStyle/>
          <a:p>
            <a:r>
              <a:t>Compute-bound vs memory-bound regimes</a:t>
            </a:r>
          </a:p>
          <a:p>
            <a:r>
              <a:t>Most ML kernels are bandwidth-bound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Scaling Laws vs Hardware</a:t>
            </a:r>
          </a:p>
        </p:txBody>
      </p:sp>
      <p:sp>
        <p:nvSpPr>
          <p:cNvPr id="3" name="Content Placeholder 2"/>
          <p:cNvSpPr>
            <a:spLocks noGrp="1"/>
          </p:cNvSpPr>
          <p:nvPr>
            <p:ph idx="1"/>
          </p:nvPr>
        </p:nvSpPr>
        <p:spPr/>
        <p:txBody>
          <a:bodyPr/>
          <a:lstStyle/>
          <a:p>
            <a:r>
              <a:t>Model scaling hides inefficiency</a:t>
            </a:r>
          </a:p>
          <a:p>
            <a:r>
              <a:t>More parameters compensate for poor locality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Memory Hierarchy Constraints</a:t>
            </a:r>
          </a:p>
        </p:txBody>
      </p:sp>
      <p:sp>
        <p:nvSpPr>
          <p:cNvPr id="3" name="Content Placeholder 2"/>
          <p:cNvSpPr>
            <a:spLocks noGrp="1"/>
          </p:cNvSpPr>
          <p:nvPr>
            <p:ph idx="1"/>
          </p:nvPr>
        </p:nvSpPr>
        <p:spPr/>
        <p:txBody>
          <a:bodyPr/>
          <a:lstStyle/>
          <a:p>
            <a:r>
              <a:t>Limited SRAM per PE</a:t>
            </a:r>
          </a:p>
          <a:p>
            <a:r>
              <a:t>Expensive off-chip accesses</a:t>
            </a:r>
          </a:p>
          <a:p>
            <a:r>
              <a:t>HBM capacity ceilings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Quantitative SRAM Limits</a:t>
            </a:r>
          </a:p>
        </p:txBody>
      </p:sp>
      <p:sp>
        <p:nvSpPr>
          <p:cNvPr id="3" name="Content Placeholder 2"/>
          <p:cNvSpPr>
            <a:spLocks noGrp="1"/>
          </p:cNvSpPr>
          <p:nvPr>
            <p:ph idx="1"/>
          </p:nvPr>
        </p:nvSpPr>
        <p:spPr/>
        <p:txBody>
          <a:bodyPr/>
          <a:lstStyle/>
          <a:p>
            <a:r>
              <a:t>SRAM density ~0.5–1 MB/mm²</a:t>
            </a:r>
          </a:p>
          <a:p>
            <a:r>
              <a:t>Large models cannot fit on-chip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DRAM Energy Cost</a:t>
            </a:r>
          </a:p>
        </p:txBody>
      </p:sp>
      <p:sp>
        <p:nvSpPr>
          <p:cNvPr id="3" name="Content Placeholder 2"/>
          <p:cNvSpPr>
            <a:spLocks noGrp="1"/>
          </p:cNvSpPr>
          <p:nvPr>
            <p:ph idx="1"/>
          </p:nvPr>
        </p:nvSpPr>
        <p:spPr/>
        <p:txBody>
          <a:bodyPr/>
          <a:lstStyle/>
          <a:p>
            <a:r>
              <a:t>~2 orders of magnitude &gt; MAC</a:t>
            </a:r>
          </a:p>
          <a:p>
            <a:r>
              <a:t>Dominates inference at scale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Memory-Centric Compute</a:t>
            </a:r>
          </a:p>
        </p:txBody>
      </p:sp>
      <p:sp>
        <p:nvSpPr>
          <p:cNvPr id="3" name="Content Placeholder 2"/>
          <p:cNvSpPr>
            <a:spLocks noGrp="1"/>
          </p:cNvSpPr>
          <p:nvPr>
            <p:ph idx="1"/>
          </p:nvPr>
        </p:nvSpPr>
        <p:spPr/>
        <p:txBody>
          <a:bodyPr/>
          <a:lstStyle/>
          <a:p>
            <a:r>
              <a:t>Reduce data movement</a:t>
            </a:r>
          </a:p>
          <a:p>
            <a:r>
              <a:t>Exploit locality</a:t>
            </a:r>
          </a:p>
          <a:p>
            <a:r>
              <a:t>Energy proportionality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Near-Memory Compute</a:t>
            </a:r>
          </a:p>
        </p:txBody>
      </p:sp>
      <p:sp>
        <p:nvSpPr>
          <p:cNvPr id="3" name="Content Placeholder 2"/>
          <p:cNvSpPr>
            <a:spLocks noGrp="1"/>
          </p:cNvSpPr>
          <p:nvPr>
            <p:ph idx="1"/>
          </p:nvPr>
        </p:nvSpPr>
        <p:spPr/>
        <p:txBody>
          <a:bodyPr/>
          <a:lstStyle/>
          <a:p>
            <a:r>
              <a:t>Logic in HBM base die</a:t>
            </a:r>
          </a:p>
          <a:p>
            <a:r>
              <a:t>Lower latency</a:t>
            </a:r>
          </a:p>
          <a:p>
            <a:r>
              <a:t>Limited flexibility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Processing-in-Memory (PIM)</a:t>
            </a:r>
          </a:p>
        </p:txBody>
      </p:sp>
      <p:sp>
        <p:nvSpPr>
          <p:cNvPr id="3" name="Content Placeholder 2"/>
          <p:cNvSpPr>
            <a:spLocks noGrp="1"/>
          </p:cNvSpPr>
          <p:nvPr>
            <p:ph idx="1"/>
          </p:nvPr>
        </p:nvSpPr>
        <p:spPr/>
        <p:txBody>
          <a:bodyPr/>
          <a:lstStyle/>
          <a:p>
            <a:r>
              <a:t>Analog or digital compute in memory</a:t>
            </a:r>
          </a:p>
          <a:p>
            <a:r>
              <a:t>Massive bandwidth</a:t>
            </a:r>
          </a:p>
          <a:p>
            <a:r>
              <a:t>Precision and programmability tradeoffs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Quantitative PIM Potential</a:t>
            </a:r>
          </a:p>
        </p:txBody>
      </p:sp>
      <p:sp>
        <p:nvSpPr>
          <p:cNvPr id="3" name="Content Placeholder 2"/>
          <p:cNvSpPr>
            <a:spLocks noGrp="1"/>
          </p:cNvSpPr>
          <p:nvPr>
            <p:ph idx="1"/>
          </p:nvPr>
        </p:nvSpPr>
        <p:spPr/>
        <p:txBody>
          <a:bodyPr/>
          <a:lstStyle/>
          <a:p>
            <a:r>
              <a:t>10–100× energy reduction (kernel-dependent)</a:t>
            </a:r>
          </a:p>
          <a:p>
            <a:r>
              <a:t>Workload constrained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CGRA Overview</a:t>
            </a:r>
          </a:p>
        </p:txBody>
      </p:sp>
      <p:sp>
        <p:nvSpPr>
          <p:cNvPr id="3" name="Content Placeholder 2"/>
          <p:cNvSpPr>
            <a:spLocks noGrp="1"/>
          </p:cNvSpPr>
          <p:nvPr>
            <p:ph idx="1"/>
          </p:nvPr>
        </p:nvSpPr>
        <p:spPr/>
        <p:txBody>
          <a:bodyPr/>
          <a:lstStyle/>
          <a:p>
            <a:r>
              <a:t>Spatial arrays</a:t>
            </a:r>
          </a:p>
          <a:p>
            <a:r>
              <a:t>Explicit dataflow</a:t>
            </a:r>
          </a:p>
          <a:p>
            <a:r>
              <a:t>Compiler-scheduled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CGRA Strengths</a:t>
            </a:r>
          </a:p>
        </p:txBody>
      </p:sp>
      <p:sp>
        <p:nvSpPr>
          <p:cNvPr id="3" name="Content Placeholder 2"/>
          <p:cNvSpPr>
            <a:spLocks noGrp="1"/>
          </p:cNvSpPr>
          <p:nvPr>
            <p:ph idx="1"/>
          </p:nvPr>
        </p:nvSpPr>
        <p:spPr/>
        <p:txBody>
          <a:bodyPr/>
          <a:lstStyle/>
          <a:p>
            <a:r>
              <a:t>High utilization</a:t>
            </a:r>
          </a:p>
          <a:p>
            <a:r>
              <a:t>Energy efficiency</a:t>
            </a:r>
          </a:p>
          <a:p>
            <a:r>
              <a:t>Regular workloads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CGRA Limitations</a:t>
            </a:r>
          </a:p>
        </p:txBody>
      </p:sp>
      <p:sp>
        <p:nvSpPr>
          <p:cNvPr id="3" name="Content Placeholder 2"/>
          <p:cNvSpPr>
            <a:spLocks noGrp="1"/>
          </p:cNvSpPr>
          <p:nvPr>
            <p:ph idx="1"/>
          </p:nvPr>
        </p:nvSpPr>
        <p:spPr/>
        <p:txBody>
          <a:bodyPr/>
          <a:lstStyle/>
          <a:p>
            <a:r>
              <a:t>Toolchain complexity</a:t>
            </a:r>
          </a:p>
          <a:p>
            <a:r>
              <a:t>Irregular control flow</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FPGA Overview</a:t>
            </a:r>
          </a:p>
        </p:txBody>
      </p:sp>
      <p:sp>
        <p:nvSpPr>
          <p:cNvPr id="3" name="Content Placeholder 2"/>
          <p:cNvSpPr>
            <a:spLocks noGrp="1"/>
          </p:cNvSpPr>
          <p:nvPr>
            <p:ph idx="1"/>
          </p:nvPr>
        </p:nvSpPr>
        <p:spPr/>
        <p:txBody>
          <a:bodyPr/>
          <a:lstStyle/>
          <a:p>
            <a:r>
              <a:t>Reconfigurable fabric</a:t>
            </a:r>
          </a:p>
          <a:p>
            <a:r>
              <a:t>Custom datapaths</a:t>
            </a:r>
          </a:p>
          <a:p>
            <a:r>
              <a:t>On-chip SRAM blocks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FPGA Strengths</a:t>
            </a:r>
          </a:p>
        </p:txBody>
      </p:sp>
      <p:sp>
        <p:nvSpPr>
          <p:cNvPr id="3" name="Content Placeholder 2"/>
          <p:cNvSpPr>
            <a:spLocks noGrp="1"/>
          </p:cNvSpPr>
          <p:nvPr>
            <p:ph idx="1"/>
          </p:nvPr>
        </p:nvSpPr>
        <p:spPr/>
        <p:txBody>
          <a:bodyPr/>
          <a:lstStyle/>
          <a:p>
            <a:r>
              <a:t>Flexibility</a:t>
            </a:r>
          </a:p>
          <a:p>
            <a:r>
              <a:t>Custom memory hierarchies</a:t>
            </a:r>
          </a:p>
          <a:p>
            <a:r>
              <a:t>Streaming dataflows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FPGA Limitations</a:t>
            </a:r>
          </a:p>
        </p:txBody>
      </p:sp>
      <p:sp>
        <p:nvSpPr>
          <p:cNvPr id="3" name="Content Placeholder 2"/>
          <p:cNvSpPr>
            <a:spLocks noGrp="1"/>
          </p:cNvSpPr>
          <p:nvPr>
            <p:ph idx="1"/>
          </p:nvPr>
        </p:nvSpPr>
        <p:spPr/>
        <p:txBody>
          <a:bodyPr/>
          <a:lstStyle/>
          <a:p>
            <a:r>
              <a:t>Lower clock rates</a:t>
            </a:r>
          </a:p>
          <a:p>
            <a:r>
              <a:t>Routing overhead</a:t>
            </a:r>
          </a:p>
          <a:p>
            <a:r>
              <a:t>Programming difficulty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Comparison: GPU vs ASIC vs FPGA vs CGRA vs PIM</a:t>
            </a:r>
          </a:p>
        </p:txBody>
      </p:sp>
      <p:sp>
        <p:nvSpPr>
          <p:cNvPr id="3" name="Content Placeholder 2"/>
          <p:cNvSpPr>
            <a:spLocks noGrp="1"/>
          </p:cNvSpPr>
          <p:nvPr>
            <p:ph idx="1"/>
          </p:nvPr>
        </p:nvSpPr>
        <p:spPr/>
        <p:txBody>
          <a:bodyPr/>
          <a:lstStyle/>
          <a:p>
            <a:r>
              <a:t>GPU: flexible, inefficient</a:t>
            </a:r>
          </a:p>
          <a:p>
            <a:r>
              <a:t>ASIC: efficient, inflexible</a:t>
            </a:r>
          </a:p>
          <a:p>
            <a:r>
              <a:t>FPGA: flexible dataflow</a:t>
            </a:r>
          </a:p>
          <a:p>
            <a:r>
              <a:t>CGRA: spatial efficiency</a:t>
            </a:r>
          </a:p>
          <a:p>
            <a:r>
              <a:t>PIM: bandwidth-first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Energy Efficiency Comparison</a:t>
            </a:r>
          </a:p>
        </p:txBody>
      </p:sp>
      <p:sp>
        <p:nvSpPr>
          <p:cNvPr id="3" name="Content Placeholder 2"/>
          <p:cNvSpPr>
            <a:spLocks noGrp="1"/>
          </p:cNvSpPr>
          <p:nvPr>
            <p:ph idx="1"/>
          </p:nvPr>
        </p:nvSpPr>
        <p:spPr/>
        <p:txBody>
          <a:bodyPr/>
          <a:lstStyle/>
          <a:p>
            <a:r>
              <a:t>ASIC &gt; CGRA &gt; FPGA &gt; GPU</a:t>
            </a:r>
          </a:p>
          <a:p>
            <a:r>
              <a:t>PIM best for limited ops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Programmability Comparison</a:t>
            </a:r>
          </a:p>
        </p:txBody>
      </p:sp>
      <p:sp>
        <p:nvSpPr>
          <p:cNvPr id="3" name="Content Placeholder 2"/>
          <p:cNvSpPr>
            <a:spLocks noGrp="1"/>
          </p:cNvSpPr>
          <p:nvPr>
            <p:ph idx="1"/>
          </p:nvPr>
        </p:nvSpPr>
        <p:spPr/>
        <p:txBody>
          <a:bodyPr/>
          <a:lstStyle/>
          <a:p>
            <a:r>
              <a:t>GPU easiest</a:t>
            </a:r>
          </a:p>
          <a:p>
            <a:r>
              <a:t>FPGA/CGRA hardest</a:t>
            </a:r>
          </a:p>
          <a:p>
            <a:r>
              <a:t>PIM kernel-specific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Memory Proximity Comparison</a:t>
            </a:r>
          </a:p>
        </p:txBody>
      </p:sp>
      <p:sp>
        <p:nvSpPr>
          <p:cNvPr id="3" name="Content Placeholder 2"/>
          <p:cNvSpPr>
            <a:spLocks noGrp="1"/>
          </p:cNvSpPr>
          <p:nvPr>
            <p:ph idx="1"/>
          </p:nvPr>
        </p:nvSpPr>
        <p:spPr/>
        <p:txBody>
          <a:bodyPr/>
          <a:lstStyle/>
          <a:p>
            <a:r>
              <a:t>PIM highest</a:t>
            </a:r>
          </a:p>
          <a:p>
            <a:r>
              <a:t>FPGA/CGRA moderate</a:t>
            </a:r>
          </a:p>
          <a:p>
            <a:r>
              <a:t>GPU lowest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Alternatives Struggle</a:t>
            </a:r>
          </a:p>
        </p:txBody>
      </p:sp>
      <p:sp>
        <p:nvSpPr>
          <p:cNvPr id="3" name="Content Placeholder 2"/>
          <p:cNvSpPr>
            <a:spLocks noGrp="1"/>
          </p:cNvSpPr>
          <p:nvPr>
            <p:ph idx="1"/>
          </p:nvPr>
        </p:nvSpPr>
        <p:spPr/>
        <p:txBody>
          <a:bodyPr/>
          <a:lstStyle/>
          <a:p>
            <a:r>
              <a:t>Hardware lottery</a:t>
            </a:r>
          </a:p>
          <a:p>
            <a:r>
              <a:t>Software ecosystem gravity</a:t>
            </a:r>
          </a:p>
          <a:p>
            <a:r>
              <a:t>Capital barriers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Implications for Architects</a:t>
            </a:r>
          </a:p>
        </p:txBody>
      </p:sp>
      <p:sp>
        <p:nvSpPr>
          <p:cNvPr id="3" name="Content Placeholder 2"/>
          <p:cNvSpPr>
            <a:spLocks noGrp="1"/>
          </p:cNvSpPr>
          <p:nvPr>
            <p:ph idx="1"/>
          </p:nvPr>
        </p:nvSpPr>
        <p:spPr/>
        <p:txBody>
          <a:bodyPr/>
          <a:lstStyle/>
          <a:p>
            <a:r>
              <a:t>Efficiency is strategic</a:t>
            </a:r>
          </a:p>
          <a:p>
            <a:r>
              <a:t>Memory-centric design is governance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Directions</a:t>
            </a:r>
          </a:p>
        </p:txBody>
      </p:sp>
      <p:sp>
        <p:nvSpPr>
          <p:cNvPr id="3" name="Content Placeholder 2"/>
          <p:cNvSpPr>
            <a:spLocks noGrp="1"/>
          </p:cNvSpPr>
          <p:nvPr>
            <p:ph idx="1"/>
          </p:nvPr>
        </p:nvSpPr>
        <p:spPr/>
        <p:txBody>
          <a:bodyPr/>
          <a:lstStyle/>
          <a:p>
            <a:r>
              <a:t>HBM-PIM hybrids</a:t>
            </a:r>
          </a:p>
          <a:p>
            <a:r>
              <a:t>Reconfigurable memory fabrics</a:t>
            </a:r>
          </a:p>
          <a:p>
            <a:r>
              <a:t>Algorithm-hardware co-design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Opportunities</a:t>
            </a:r>
          </a:p>
        </p:txBody>
      </p:sp>
      <p:sp>
        <p:nvSpPr>
          <p:cNvPr id="3" name="Content Placeholder 2"/>
          <p:cNvSpPr>
            <a:spLocks noGrp="1"/>
          </p:cNvSpPr>
          <p:nvPr>
            <p:ph idx="1"/>
          </p:nvPr>
        </p:nvSpPr>
        <p:spPr/>
        <p:txBody>
          <a:bodyPr/>
          <a:lstStyle/>
          <a:p>
            <a:r>
              <a:t>Compiler-driven locality</a:t>
            </a:r>
          </a:p>
          <a:p>
            <a:r>
              <a:t>Sparse and structured models</a:t>
            </a:r>
          </a:p>
          <a:p>
            <a:r>
              <a:t>Dataflow-native ML</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Relevance to ASIC-Competitive FPGAs</a:t>
            </a:r>
          </a:p>
        </p:txBody>
      </p:sp>
      <p:sp>
        <p:nvSpPr>
          <p:cNvPr id="3" name="Content Placeholder 2"/>
          <p:cNvSpPr>
            <a:spLocks noGrp="1"/>
          </p:cNvSpPr>
          <p:nvPr>
            <p:ph idx="1"/>
          </p:nvPr>
        </p:nvSpPr>
        <p:spPr/>
        <p:txBody>
          <a:bodyPr/>
          <a:lstStyle/>
          <a:p>
            <a:r>
              <a:t>Custom memory per tile</a:t>
            </a:r>
          </a:p>
          <a:p>
            <a:r>
              <a:t>Tight compute-memory coupling</a:t>
            </a:r>
          </a:p>
          <a:p>
            <a:r>
              <a:t>Reduced routing overhead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Takeaway</a:t>
            </a:r>
          </a:p>
        </p:txBody>
      </p:sp>
      <p:sp>
        <p:nvSpPr>
          <p:cNvPr id="3" name="Content Placeholder 2"/>
          <p:cNvSpPr>
            <a:spLocks noGrp="1"/>
          </p:cNvSpPr>
          <p:nvPr>
            <p:ph idx="1"/>
          </p:nvPr>
        </p:nvSpPr>
        <p:spPr/>
        <p:txBody>
          <a:bodyPr/>
          <a:lstStyle/>
          <a:p>
            <a:r>
              <a:t>AI futures are decided in silicon</a:t>
            </a:r>
          </a:p>
          <a:p>
            <a:r>
              <a:t>Memory is the battleground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Questions</a:t>
            </a:r>
          </a:p>
        </p:txBody>
      </p:sp>
      <p:sp>
        <p:nvSpPr>
          <p:cNvPr id="3" name="Content Placeholder 2"/>
          <p:cNvSpPr>
            <a:spLocks noGrp="1"/>
          </p:cNvSpPr>
          <p:nvPr>
            <p:ph idx="1"/>
          </p:nvPr>
        </p:nvSpPr>
        <p:spPr/>
        <p:txBody>
          <a:bodyPr/>
          <a:lstStyle/>
          <a:p>
            <a:r>
              <a:t>Should compute be regulated as infrastructure?</a:t>
            </a:r>
          </a:p>
          <a:p>
            <a:r>
              <a:t>How do we fund architectural diversity?</a:t>
            </a:r>
          </a:p>
        </p:txBody>
      </p:sp>
    </p:spTree>
  </p:cSld>
  <p:clrMapOvr>
    <a:masterClrMapping/>
  </p:clrMapOvr>
</p:sld>
</file>

<file path=ppt/theme/theme1.xml><?xml version="1.0" encoding="utf-8"?>
<a:theme xmlns:a="http://schemas.openxmlformats.org/drawingml/2006/main" name="Uark">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Uark">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Uark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ar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ark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ark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ark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ark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ark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Macintosh HD:Applications:Microsoft Office X:Templates:My Templates:Uark.pot</Template>
  <TotalTime>17685</TotalTime>
  <Words>1480</Words>
  <Application>Microsoft Macintosh PowerPoint</Application>
  <PresentationFormat>On-screen Show (4:3)</PresentationFormat>
  <Paragraphs>267</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Comic Sans MS</vt:lpstr>
      <vt:lpstr>Rubik</vt:lpstr>
      <vt:lpstr>Times New Roman</vt:lpstr>
      <vt:lpstr>Wingdings</vt:lpstr>
      <vt:lpstr>Uark</vt:lpstr>
      <vt:lpstr>“Computational Power and AI” By Jai Vipra + Sarah Myers West AINOW. </vt:lpstr>
      <vt:lpstr>Defining Compute</vt:lpstr>
      <vt:lpstr>Core Thesis of the Article</vt:lpstr>
      <vt:lpstr>AI Dominance</vt:lpstr>
      <vt:lpstr>Approach to AI to date:</vt:lpstr>
      <vt:lpstr>Compute Demand Growth</vt:lpstr>
      <vt:lpstr>Effects of Demands</vt:lpstr>
      <vt:lpstr>Self Perpetuating Cycles</vt:lpstr>
      <vt:lpstr>Self Perpetuating Cycles</vt:lpstr>
      <vt:lpstr>Self Perpetuating Cycles</vt:lpstr>
      <vt:lpstr>GPU as ML ISA</vt:lpstr>
      <vt:lpstr>And the cycle continues</vt:lpstr>
      <vt:lpstr>Limits Innovation</vt:lpstr>
      <vt:lpstr>Large-Scale AI Models</vt:lpstr>
      <vt:lpstr>Chips for large-scale AI</vt:lpstr>
      <vt:lpstr>Components of Computer Hardware</vt:lpstr>
      <vt:lpstr>Quantitative Reality: Energy per Operation</vt:lpstr>
      <vt:lpstr>Supply Chain for AI Hardware</vt:lpstr>
      <vt:lpstr>Market Dominance </vt:lpstr>
      <vt:lpstr>New Entries</vt:lpstr>
      <vt:lpstr>Investments in Self Interest</vt:lpstr>
      <vt:lpstr>Investments in Self Interest</vt:lpstr>
      <vt:lpstr>Investments in Self Interest</vt:lpstr>
      <vt:lpstr>How to Reduce Compute Costs</vt:lpstr>
      <vt:lpstr>Policy considerations</vt:lpstr>
      <vt:lpstr>Data Minimization</vt:lpstr>
      <vt:lpstr>Data Minimization</vt:lpstr>
      <vt:lpstr>Bandwidth Wall</vt:lpstr>
      <vt:lpstr>Roofline Perspective</vt:lpstr>
      <vt:lpstr>Scaling Laws vs Hardware</vt:lpstr>
      <vt:lpstr>Memory Hierarchy Constraints</vt:lpstr>
      <vt:lpstr>Quantitative SRAM Limits</vt:lpstr>
      <vt:lpstr>DRAM Energy Cost</vt:lpstr>
      <vt:lpstr>Why Memory-Centric Compute</vt:lpstr>
      <vt:lpstr>Near-Memory Compute</vt:lpstr>
      <vt:lpstr>Processing-in-Memory (PIM)</vt:lpstr>
      <vt:lpstr>Quantitative PIM Potential</vt:lpstr>
      <vt:lpstr>CGRA Overview</vt:lpstr>
      <vt:lpstr>CGRA Strengths</vt:lpstr>
      <vt:lpstr>CGRA Limitations</vt:lpstr>
      <vt:lpstr>FPGA Overview</vt:lpstr>
      <vt:lpstr>FPGA Strengths</vt:lpstr>
      <vt:lpstr>FPGA Limitations</vt:lpstr>
      <vt:lpstr>Comparison: GPU vs ASIC vs FPGA vs CGRA vs PIM</vt:lpstr>
      <vt:lpstr>Energy Efficiency Comparison</vt:lpstr>
      <vt:lpstr>Programmability Comparison</vt:lpstr>
      <vt:lpstr>Memory Proximity Comparison</vt:lpstr>
      <vt:lpstr>Why Alternatives Struggle</vt:lpstr>
      <vt:lpstr>Implications for Architects</vt:lpstr>
      <vt:lpstr>Future Directions</vt:lpstr>
      <vt:lpstr>Research Opportunities</vt:lpstr>
      <vt:lpstr>Relevance to ASIC-Competitive FPGAs</vt:lpstr>
      <vt:lpstr>Key Takeaway</vt:lpstr>
      <vt:lpstr>Discussion Questions</vt:lpstr>
    </vt:vector>
  </TitlesOfParts>
  <Company>university of 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Architecture</dc:title>
  <dc:creator>dandrews</dc:creator>
  <cp:lastModifiedBy>David Andrews</cp:lastModifiedBy>
  <cp:revision>157</cp:revision>
  <dcterms:created xsi:type="dcterms:W3CDTF">2017-01-17T21:56:44Z</dcterms:created>
  <dcterms:modified xsi:type="dcterms:W3CDTF">2026-02-09T00:45:11Z</dcterms:modified>
</cp:coreProperties>
</file>