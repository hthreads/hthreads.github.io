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9" r:id="rId1"/>
  </p:sldMasterIdLst>
  <p:notesMasterIdLst>
    <p:notesMasterId r:id="rId15"/>
  </p:notesMasterIdLst>
  <p:handoutMasterIdLst>
    <p:handoutMasterId r:id="rId16"/>
  </p:handoutMasterIdLst>
  <p:sldIdLst>
    <p:sldId id="256" r:id="rId2"/>
    <p:sldId id="288" r:id="rId3"/>
    <p:sldId id="289" r:id="rId4"/>
    <p:sldId id="291" r:id="rId5"/>
    <p:sldId id="292" r:id="rId6"/>
    <p:sldId id="293" r:id="rId7"/>
    <p:sldId id="294" r:id="rId8"/>
    <p:sldId id="295" r:id="rId9"/>
    <p:sldId id="290" r:id="rId10"/>
    <p:sldId id="297" r:id="rId11"/>
    <p:sldId id="298" r:id="rId12"/>
    <p:sldId id="299" r:id="rId13"/>
    <p:sldId id="300" r:id="rId14"/>
  </p:sldIdLst>
  <p:sldSz cx="9144000" cy="6858000" type="screen4x3"/>
  <p:notesSz cx="6858000" cy="9144000"/>
  <p:defaultTextStyle>
    <a:defPPr>
      <a:defRPr lang="en-US"/>
    </a:defPPr>
    <a:lvl1pPr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1pPr>
    <a:lvl2pPr marL="4572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2pPr>
    <a:lvl3pPr marL="9144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3pPr>
    <a:lvl4pPr marL="13716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4pPr>
    <a:lvl5pPr marL="1828800" algn="l" rtl="0" eaLnBrk="0" fontAlgn="base" hangingPunct="0">
      <a:spcBef>
        <a:spcPct val="0"/>
      </a:spcBef>
      <a:spcAft>
        <a:spcPct val="0"/>
      </a:spcAft>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5pPr>
    <a:lvl6pPr marL="22860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6pPr>
    <a:lvl7pPr marL="27432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7pPr>
    <a:lvl8pPr marL="32004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8pPr>
    <a:lvl9pPr marL="3657600" algn="l" defTabSz="914400" rtl="0" eaLnBrk="1" latinLnBrk="0" hangingPunct="1">
      <a:defRPr sz="2400" kern="12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718"/>
    <p:restoredTop sz="94694"/>
  </p:normalViewPr>
  <p:slideViewPr>
    <p:cSldViewPr>
      <p:cViewPr varScale="1">
        <p:scale>
          <a:sx n="121" d="100"/>
          <a:sy n="121" d="100"/>
        </p:scale>
        <p:origin x="1640" y="17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E79506A-464C-F463-C2CA-606E8450C8B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eaLnBrk="1" hangingPunct="1">
              <a:defRPr sz="1200">
                <a:latin typeface="Times New Roman" charset="0"/>
                <a:ea typeface="ＭＳ Ｐゴシック" charset="-128"/>
                <a:cs typeface="ＭＳ Ｐゴシック" charset="-128"/>
              </a:defRPr>
            </a:lvl1pPr>
          </a:lstStyle>
          <a:p>
            <a:pPr>
              <a:defRPr/>
            </a:pPr>
            <a:endParaRPr lang="en-US"/>
          </a:p>
        </p:txBody>
      </p:sp>
      <p:sp>
        <p:nvSpPr>
          <p:cNvPr id="3" name="Date Placeholder 2">
            <a:extLst>
              <a:ext uri="{FF2B5EF4-FFF2-40B4-BE49-F238E27FC236}">
                <a16:creationId xmlns:a16="http://schemas.microsoft.com/office/drawing/2014/main" id="{914CA70A-1AD8-1430-4E23-74931CE5AD4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eaLnBrk="1" hangingPunct="1">
              <a:defRPr sz="1200">
                <a:latin typeface="Times New Roman" charset="0"/>
                <a:ea typeface="ＭＳ Ｐゴシック" charset="-128"/>
                <a:cs typeface="ＭＳ Ｐゴシック" charset="-128"/>
              </a:defRPr>
            </a:lvl1pPr>
          </a:lstStyle>
          <a:p>
            <a:pPr>
              <a:defRPr/>
            </a:pPr>
            <a:fld id="{0B6F7E63-69C4-1745-A18C-12058089D209}" type="datetimeFigureOut">
              <a:rPr lang="en-US"/>
              <a:pPr>
                <a:defRPr/>
              </a:pPr>
              <a:t>1/9/26</a:t>
            </a:fld>
            <a:endParaRPr lang="en-US"/>
          </a:p>
        </p:txBody>
      </p:sp>
      <p:sp>
        <p:nvSpPr>
          <p:cNvPr id="4" name="Footer Placeholder 3">
            <a:extLst>
              <a:ext uri="{FF2B5EF4-FFF2-40B4-BE49-F238E27FC236}">
                <a16:creationId xmlns:a16="http://schemas.microsoft.com/office/drawing/2014/main" id="{E6CCEE29-C3CC-0F21-276C-AE0A2CF94F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eaLnBrk="1" hangingPunct="1">
              <a:defRPr sz="1200">
                <a:latin typeface="Times New Roman" charset="0"/>
                <a:ea typeface="ＭＳ Ｐゴシック" charset="-128"/>
                <a:cs typeface="ＭＳ Ｐゴシック" charset="-128"/>
              </a:defRPr>
            </a:lvl1pPr>
          </a:lstStyle>
          <a:p>
            <a:pPr>
              <a:defRPr/>
            </a:pPr>
            <a:endParaRPr lang="en-US"/>
          </a:p>
        </p:txBody>
      </p:sp>
      <p:sp>
        <p:nvSpPr>
          <p:cNvPr id="5" name="Slide Number Placeholder 4">
            <a:extLst>
              <a:ext uri="{FF2B5EF4-FFF2-40B4-BE49-F238E27FC236}">
                <a16:creationId xmlns:a16="http://schemas.microsoft.com/office/drawing/2014/main" id="{79D0FE4C-58DB-B080-2B1A-173BD2CD0002}"/>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05601A40-910F-3946-A127-E211F7F53926}"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BC0B795A-C2B5-8D15-E43A-B4B5A8ED5E19}"/>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200">
                <a:latin typeface="Times New Roman" pitchFamily="-110" charset="0"/>
                <a:ea typeface="+mn-ea"/>
                <a:cs typeface="+mn-cs"/>
              </a:defRPr>
            </a:lvl1pPr>
          </a:lstStyle>
          <a:p>
            <a:pPr>
              <a:defRPr/>
            </a:pPr>
            <a:endParaRPr lang="en-US"/>
          </a:p>
        </p:txBody>
      </p:sp>
      <p:sp>
        <p:nvSpPr>
          <p:cNvPr id="14339" name="Rectangle 3">
            <a:extLst>
              <a:ext uri="{FF2B5EF4-FFF2-40B4-BE49-F238E27FC236}">
                <a16:creationId xmlns:a16="http://schemas.microsoft.com/office/drawing/2014/main" id="{C05E6FC9-399A-27D8-F548-38800DD652B2}"/>
              </a:ext>
            </a:extLst>
          </p:cNvPr>
          <p:cNvSpPr>
            <a:spLocks noGrp="1" noChangeArrowheads="1"/>
          </p:cNvSpPr>
          <p:nvPr>
            <p:ph type="dt" idx="1"/>
          </p:nvPr>
        </p:nvSpPr>
        <p:spPr bwMode="auto">
          <a:xfrm>
            <a:off x="388620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pitchFamily="-110" charset="0"/>
                <a:ea typeface="+mn-ea"/>
                <a:cs typeface="+mn-cs"/>
              </a:defRPr>
            </a:lvl1pPr>
          </a:lstStyle>
          <a:p>
            <a:pPr>
              <a:defRPr/>
            </a:pPr>
            <a:endParaRPr lang="en-US"/>
          </a:p>
        </p:txBody>
      </p:sp>
      <p:sp>
        <p:nvSpPr>
          <p:cNvPr id="2052" name="Rectangle 4">
            <a:extLst>
              <a:ext uri="{FF2B5EF4-FFF2-40B4-BE49-F238E27FC236}">
                <a16:creationId xmlns:a16="http://schemas.microsoft.com/office/drawing/2014/main" id="{25F34450-27D8-75BB-9340-2E0C62D8AE28}"/>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341" name="Rectangle 5">
            <a:extLst>
              <a:ext uri="{FF2B5EF4-FFF2-40B4-BE49-F238E27FC236}">
                <a16:creationId xmlns:a16="http://schemas.microsoft.com/office/drawing/2014/main" id="{40B250E0-31AC-07F4-7A36-C1E215527B37}"/>
              </a:ext>
            </a:extLst>
          </p:cNvPr>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4342" name="Rectangle 6">
            <a:extLst>
              <a:ext uri="{FF2B5EF4-FFF2-40B4-BE49-F238E27FC236}">
                <a16:creationId xmlns:a16="http://schemas.microsoft.com/office/drawing/2014/main" id="{7A2BF438-A009-4EB0-4A28-2480A8F8D0C5}"/>
              </a:ext>
            </a:extLst>
          </p:cNvPr>
          <p:cNvSpPr>
            <a:spLocks noGrp="1" noChangeArrowheads="1"/>
          </p:cNvSpPr>
          <p:nvPr>
            <p:ph type="ftr" sz="quarter" idx="4"/>
          </p:nvPr>
        </p:nvSpPr>
        <p:spPr bwMode="auto">
          <a:xfrm>
            <a:off x="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200">
                <a:latin typeface="Times New Roman" pitchFamily="-110" charset="0"/>
                <a:ea typeface="+mn-ea"/>
                <a:cs typeface="+mn-cs"/>
              </a:defRPr>
            </a:lvl1pPr>
          </a:lstStyle>
          <a:p>
            <a:pPr>
              <a:defRPr/>
            </a:pPr>
            <a:endParaRPr lang="en-US"/>
          </a:p>
        </p:txBody>
      </p:sp>
      <p:sp>
        <p:nvSpPr>
          <p:cNvPr id="14343" name="Rectangle 7">
            <a:extLst>
              <a:ext uri="{FF2B5EF4-FFF2-40B4-BE49-F238E27FC236}">
                <a16:creationId xmlns:a16="http://schemas.microsoft.com/office/drawing/2014/main" id="{387308D2-8B48-E740-DB45-243A2377D5FB}"/>
              </a:ext>
            </a:extLst>
          </p:cNvPr>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732DD24A-708A-6B40-A125-BDACBAB1D6FF}"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10" charset="0"/>
        <a:ea typeface="ＭＳ Ｐゴシック" pitchFamily="-110" charset="-128"/>
        <a:cs typeface="ＭＳ Ｐゴシック" pitchFamily="-110" charset="-128"/>
      </a:defRPr>
    </a:lvl1pPr>
    <a:lvl2pPr marL="457200" algn="l" rtl="0" eaLnBrk="0" fontAlgn="base" hangingPunct="0">
      <a:spcBef>
        <a:spcPct val="30000"/>
      </a:spcBef>
      <a:spcAft>
        <a:spcPct val="0"/>
      </a:spcAft>
      <a:defRPr sz="1200" kern="1200">
        <a:solidFill>
          <a:schemeClr val="tx1"/>
        </a:solidFill>
        <a:latin typeface="Times New Roman" pitchFamily="-110" charset="0"/>
        <a:ea typeface="ＭＳ Ｐゴシック" pitchFamily="-110" charset="-128"/>
        <a:cs typeface="ＭＳ Ｐゴシック" charset="-128"/>
      </a:defRPr>
    </a:lvl2pPr>
    <a:lvl3pPr marL="914400" algn="l" rtl="0" eaLnBrk="0" fontAlgn="base" hangingPunct="0">
      <a:spcBef>
        <a:spcPct val="30000"/>
      </a:spcBef>
      <a:spcAft>
        <a:spcPct val="0"/>
      </a:spcAft>
      <a:defRPr sz="1200" kern="1200">
        <a:solidFill>
          <a:schemeClr val="tx1"/>
        </a:solidFill>
        <a:latin typeface="Times New Roman" pitchFamily="-110" charset="0"/>
        <a:ea typeface="ＭＳ Ｐゴシック" pitchFamily="-110" charset="-128"/>
        <a:cs typeface="ＭＳ Ｐゴシック" charset="-128"/>
      </a:defRPr>
    </a:lvl3pPr>
    <a:lvl4pPr marL="1371600" algn="l" rtl="0" eaLnBrk="0" fontAlgn="base" hangingPunct="0">
      <a:spcBef>
        <a:spcPct val="30000"/>
      </a:spcBef>
      <a:spcAft>
        <a:spcPct val="0"/>
      </a:spcAft>
      <a:defRPr sz="1200" kern="1200">
        <a:solidFill>
          <a:schemeClr val="tx1"/>
        </a:solidFill>
        <a:latin typeface="Times New Roman" pitchFamily="-110" charset="0"/>
        <a:ea typeface="ＭＳ Ｐゴシック" pitchFamily="-110" charset="-128"/>
        <a:cs typeface="ＭＳ Ｐゴシック" charset="-128"/>
      </a:defRPr>
    </a:lvl4pPr>
    <a:lvl5pPr marL="1828800" algn="l" rtl="0" eaLnBrk="0" fontAlgn="base" hangingPunct="0">
      <a:spcBef>
        <a:spcPct val="30000"/>
      </a:spcBef>
      <a:spcAft>
        <a:spcPct val="0"/>
      </a:spcAft>
      <a:defRPr sz="1200" kern="1200">
        <a:solidFill>
          <a:schemeClr val="tx1"/>
        </a:solidFill>
        <a:latin typeface="Times New Roman" pitchFamily="-110" charset="0"/>
        <a:ea typeface="ＭＳ Ｐゴシック" pitchFamily="-110" charset="-128"/>
        <a:cs typeface="ＭＳ Ｐゴシック" charset="-128"/>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Tree>
    <p:extLst>
      <p:ext uri="{BB962C8B-B14F-4D97-AF65-F5344CB8AC3E}">
        <p14:creationId xmlns:p14="http://schemas.microsoft.com/office/powerpoint/2010/main" val="30100780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64459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38882787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44550" y="1524000"/>
            <a:ext cx="3651250" cy="4572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524000"/>
            <a:ext cx="3651250" cy="45720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35089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62396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743848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90290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8684817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0839780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28575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35725" y="533400"/>
            <a:ext cx="1863725" cy="5562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44550" y="533400"/>
            <a:ext cx="5438775" cy="55626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315199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06801486-107F-042C-8D75-F80883FF9216}"/>
              </a:ext>
            </a:extLst>
          </p:cNvPr>
          <p:cNvSpPr>
            <a:spLocks noGrp="1" noChangeArrowheads="1"/>
          </p:cNvSpPr>
          <p:nvPr>
            <p:ph type="body" idx="1"/>
          </p:nvPr>
        </p:nvSpPr>
        <p:spPr bwMode="auto">
          <a:xfrm>
            <a:off x="844550" y="1524000"/>
            <a:ext cx="7454900" cy="45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7" name="Rectangle 3">
            <a:extLst>
              <a:ext uri="{FF2B5EF4-FFF2-40B4-BE49-F238E27FC236}">
                <a16:creationId xmlns:a16="http://schemas.microsoft.com/office/drawing/2014/main" id="{3E46F069-8073-E8F2-C4BC-C8516814FA9E}"/>
              </a:ext>
            </a:extLst>
          </p:cNvPr>
          <p:cNvSpPr>
            <a:spLocks noGrp="1" noChangeArrowheads="1"/>
          </p:cNvSpPr>
          <p:nvPr>
            <p:ph type="title"/>
          </p:nvPr>
        </p:nvSpPr>
        <p:spPr bwMode="auto">
          <a:xfrm>
            <a:off x="844550" y="533400"/>
            <a:ext cx="7454900" cy="83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028" name="Rectangle 4">
            <a:extLst>
              <a:ext uri="{FF2B5EF4-FFF2-40B4-BE49-F238E27FC236}">
                <a16:creationId xmlns:a16="http://schemas.microsoft.com/office/drawing/2014/main" id="{C391FDC7-E245-1FCD-203E-D2A9D6445C2D}"/>
              </a:ext>
            </a:extLst>
          </p:cNvPr>
          <p:cNvSpPr>
            <a:spLocks noChangeArrowheads="1"/>
          </p:cNvSpPr>
          <p:nvPr/>
        </p:nvSpPr>
        <p:spPr bwMode="auto">
          <a:xfrm>
            <a:off x="655638" y="404813"/>
            <a:ext cx="7904162" cy="6048375"/>
          </a:xfrm>
          <a:prstGeom prst="rect">
            <a:avLst/>
          </a:prstGeom>
          <a:noFill/>
          <a:ln w="47625" cmpd="thinThick">
            <a:solidFill>
              <a:schemeClr val="hlink"/>
            </a:solidFill>
            <a:miter lim="800000"/>
            <a:headEnd/>
            <a:tailEnd/>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9pPr>
          </a:lstStyle>
          <a:p>
            <a:pPr eaLnBrk="1" hangingPunct="1">
              <a:defRPr/>
            </a:pPr>
            <a:endParaRPr lang="en-US" altLang="en-US"/>
          </a:p>
        </p:txBody>
      </p:sp>
      <p:sp>
        <p:nvSpPr>
          <p:cNvPr id="1029" name="Line 5">
            <a:extLst>
              <a:ext uri="{FF2B5EF4-FFF2-40B4-BE49-F238E27FC236}">
                <a16:creationId xmlns:a16="http://schemas.microsoft.com/office/drawing/2014/main" id="{23016CB6-0DDE-C61A-078F-330379F564B2}"/>
              </a:ext>
            </a:extLst>
          </p:cNvPr>
          <p:cNvSpPr>
            <a:spLocks noChangeShapeType="1"/>
          </p:cNvSpPr>
          <p:nvPr/>
        </p:nvSpPr>
        <p:spPr bwMode="auto">
          <a:xfrm>
            <a:off x="844550" y="1295400"/>
            <a:ext cx="7454900" cy="0"/>
          </a:xfrm>
          <a:prstGeom prst="line">
            <a:avLst/>
          </a:prstGeom>
          <a:noFill/>
          <a:ln w="25400">
            <a:solidFill>
              <a:srgbClr val="0F286A"/>
            </a:solidFill>
            <a:round/>
            <a:headEnd type="none" w="sm" len="sm"/>
            <a:tailEnd type="none" w="sm" len="sm"/>
          </a:ln>
          <a:extLst>
            <a:ext uri="{909E8E84-426E-40DD-AFC4-6F175D3DCCD1}">
              <a14:hiddenFill xmlns:a14="http://schemas.microsoft.com/office/drawing/2010/main">
                <a:noFill/>
              </a14:hiddenFill>
            </a:ext>
          </a:extLst>
        </p:spPr>
        <p:txBody>
          <a:bodyPr wrap="none" anchor="ctr"/>
          <a:lstStyle/>
          <a:p>
            <a:endParaRPr lang="en-US"/>
          </a:p>
        </p:txBody>
      </p:sp>
      <p:sp>
        <p:nvSpPr>
          <p:cNvPr id="1030" name="Rectangle 6">
            <a:extLst>
              <a:ext uri="{FF2B5EF4-FFF2-40B4-BE49-F238E27FC236}">
                <a16:creationId xmlns:a16="http://schemas.microsoft.com/office/drawing/2014/main" id="{A73DBD55-A81E-9A82-C135-0F132BBA5F90}"/>
              </a:ext>
            </a:extLst>
          </p:cNvPr>
          <p:cNvSpPr>
            <a:spLocks noChangeArrowheads="1"/>
          </p:cNvSpPr>
          <p:nvPr/>
        </p:nvSpPr>
        <p:spPr bwMode="auto">
          <a:xfrm>
            <a:off x="3727450" y="2362200"/>
            <a:ext cx="4291013" cy="3048000"/>
          </a:xfrm>
          <a:prstGeom prst="rect">
            <a:avLst/>
          </a:prstGeom>
          <a:noFill/>
          <a:ln>
            <a:noFill/>
          </a:ln>
        </p:spPr>
        <p:txBody>
          <a:bodyPr wrap="none" anchor="ctr"/>
          <a:lstStyle>
            <a:lvl1pPr>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9pPr>
          </a:lstStyle>
          <a:p>
            <a:pPr eaLnBrk="1" hangingPunct="1">
              <a:defRPr/>
            </a:pPr>
            <a:endParaRPr lang="en-US" altLang="en-US"/>
          </a:p>
        </p:txBody>
      </p:sp>
      <p:sp>
        <p:nvSpPr>
          <p:cNvPr id="130055" name="Text Box 7">
            <a:extLst>
              <a:ext uri="{FF2B5EF4-FFF2-40B4-BE49-F238E27FC236}">
                <a16:creationId xmlns:a16="http://schemas.microsoft.com/office/drawing/2014/main" id="{E9A48269-853F-B1A9-FBBA-D34702BB7C35}"/>
              </a:ext>
            </a:extLst>
          </p:cNvPr>
          <p:cNvSpPr txBox="1">
            <a:spLocks noChangeArrowheads="1"/>
          </p:cNvSpPr>
          <p:nvPr/>
        </p:nvSpPr>
        <p:spPr bwMode="auto">
          <a:xfrm>
            <a:off x="1123950" y="6419850"/>
            <a:ext cx="2211388" cy="293688"/>
          </a:xfrm>
          <a:prstGeom prst="rect">
            <a:avLst/>
          </a:prstGeom>
          <a:noFill/>
          <a:ln w="9525">
            <a:noFill/>
            <a:miter lim="800000"/>
            <a:headEnd/>
            <a:tailEnd/>
          </a:ln>
          <a:effectLst/>
        </p:spPr>
        <p:txBody>
          <a:bodyPr wrap="none">
            <a:spAutoFit/>
          </a:bodyPr>
          <a:lstStyle>
            <a:lvl1pPr eaLnBrk="0" hangingPunct="0">
              <a:defRPr sz="2400">
                <a:solidFill>
                  <a:schemeClr val="tx1"/>
                </a:solidFill>
                <a:latin typeface="Times New Roman" charset="0"/>
                <a:ea typeface="ＭＳ Ｐゴシック" charset="-128"/>
                <a:cs typeface="ＭＳ Ｐゴシック" charset="-128"/>
              </a:defRPr>
            </a:lvl1pPr>
            <a:lvl2pPr marL="37931725" indent="-37474525" eaLnBrk="0" hangingPunct="0">
              <a:defRPr sz="2400">
                <a:solidFill>
                  <a:schemeClr val="tx1"/>
                </a:solidFill>
                <a:latin typeface="Times New Roman" charset="0"/>
                <a:ea typeface="ＭＳ Ｐゴシック" charset="-128"/>
                <a:cs typeface="ＭＳ Ｐゴシック" charset="-128"/>
              </a:defRPr>
            </a:lvl2pPr>
            <a:lvl3pPr eaLnBrk="0" hangingPunct="0">
              <a:defRPr sz="2400">
                <a:solidFill>
                  <a:schemeClr val="tx1"/>
                </a:solidFill>
                <a:latin typeface="Times New Roman" charset="0"/>
                <a:ea typeface="ＭＳ Ｐゴシック" charset="-128"/>
                <a:cs typeface="ＭＳ Ｐゴシック" charset="-128"/>
              </a:defRPr>
            </a:lvl3pPr>
            <a:lvl4pPr eaLnBrk="0" hangingPunct="0">
              <a:defRPr sz="2400">
                <a:solidFill>
                  <a:schemeClr val="tx1"/>
                </a:solidFill>
                <a:latin typeface="Times New Roman" charset="0"/>
                <a:ea typeface="ＭＳ Ｐゴシック" charset="-128"/>
                <a:cs typeface="ＭＳ Ｐゴシック" charset="-128"/>
              </a:defRPr>
            </a:lvl4pPr>
            <a:lvl5pPr eaLnBrk="0" hangingPunct="0">
              <a:defRPr sz="2400">
                <a:solidFill>
                  <a:schemeClr val="tx1"/>
                </a:solidFill>
                <a:latin typeface="Times New Roman" charset="0"/>
                <a:ea typeface="ＭＳ Ｐゴシック" charset="-128"/>
                <a:cs typeface="ＭＳ Ｐゴシック" charset="-128"/>
              </a:defRPr>
            </a:lvl5pPr>
            <a:lvl6pPr marL="457200" eaLnBrk="0" fontAlgn="base" hangingPunct="0">
              <a:spcBef>
                <a:spcPct val="0"/>
              </a:spcBef>
              <a:spcAft>
                <a:spcPct val="0"/>
              </a:spcAft>
              <a:defRPr sz="2400">
                <a:solidFill>
                  <a:schemeClr val="tx1"/>
                </a:solidFill>
                <a:latin typeface="Times New Roman" charset="0"/>
                <a:ea typeface="ＭＳ Ｐゴシック" charset="-128"/>
                <a:cs typeface="ＭＳ Ｐゴシック" charset="-128"/>
              </a:defRPr>
            </a:lvl6pPr>
            <a:lvl7pPr marL="914400" eaLnBrk="0" fontAlgn="base" hangingPunct="0">
              <a:spcBef>
                <a:spcPct val="0"/>
              </a:spcBef>
              <a:spcAft>
                <a:spcPct val="0"/>
              </a:spcAft>
              <a:defRPr sz="2400">
                <a:solidFill>
                  <a:schemeClr val="tx1"/>
                </a:solidFill>
                <a:latin typeface="Times New Roman" charset="0"/>
                <a:ea typeface="ＭＳ Ｐゴシック" charset="-128"/>
                <a:cs typeface="ＭＳ Ｐゴシック" charset="-128"/>
              </a:defRPr>
            </a:lvl7pPr>
            <a:lvl8pPr marL="1371600" eaLnBrk="0" fontAlgn="base" hangingPunct="0">
              <a:spcBef>
                <a:spcPct val="0"/>
              </a:spcBef>
              <a:spcAft>
                <a:spcPct val="0"/>
              </a:spcAft>
              <a:defRPr sz="2400">
                <a:solidFill>
                  <a:schemeClr val="tx1"/>
                </a:solidFill>
                <a:latin typeface="Times New Roman" charset="0"/>
                <a:ea typeface="ＭＳ Ｐゴシック" charset="-128"/>
                <a:cs typeface="ＭＳ Ｐゴシック" charset="-128"/>
              </a:defRPr>
            </a:lvl8pPr>
            <a:lvl9pPr marL="1828800" eaLnBrk="0" fontAlgn="base" hangingPunct="0">
              <a:spcBef>
                <a:spcPct val="0"/>
              </a:spcBef>
              <a:spcAft>
                <a:spcPct val="0"/>
              </a:spcAft>
              <a:defRPr sz="2400">
                <a:solidFill>
                  <a:schemeClr val="tx1"/>
                </a:solidFill>
                <a:latin typeface="Times New Roman" charset="0"/>
                <a:ea typeface="ＭＳ Ｐゴシック" charset="-128"/>
                <a:cs typeface="ＭＳ Ｐゴシック" charset="-128"/>
              </a:defRPr>
            </a:lvl9pPr>
          </a:lstStyle>
          <a:p>
            <a:pPr algn="r">
              <a:lnSpc>
                <a:spcPct val="110000"/>
              </a:lnSpc>
              <a:spcBef>
                <a:spcPct val="20000"/>
              </a:spcBef>
              <a:defRPr/>
            </a:pPr>
            <a:r>
              <a:rPr lang="en-US" altLang="en-US" sz="1200">
                <a:solidFill>
                  <a:schemeClr val="hlink"/>
                </a:solidFill>
                <a:latin typeface="Arial" charset="0"/>
              </a:rPr>
              <a:t>Computer System Design Lab</a:t>
            </a:r>
            <a:endParaRPr lang="en-US" altLang="en-US" sz="2000">
              <a:solidFill>
                <a:schemeClr val="hlink"/>
              </a:solidFill>
            </a:endParaRPr>
          </a:p>
        </p:txBody>
      </p:sp>
      <p:sp>
        <p:nvSpPr>
          <p:cNvPr id="130056" name="Text Box 8">
            <a:extLst>
              <a:ext uri="{FF2B5EF4-FFF2-40B4-BE49-F238E27FC236}">
                <a16:creationId xmlns:a16="http://schemas.microsoft.com/office/drawing/2014/main" id="{0343784A-BE32-3E0F-AEF2-4B95A7025A7A}"/>
              </a:ext>
            </a:extLst>
          </p:cNvPr>
          <p:cNvSpPr txBox="1">
            <a:spLocks noChangeArrowheads="1"/>
          </p:cNvSpPr>
          <p:nvPr/>
        </p:nvSpPr>
        <p:spPr bwMode="auto">
          <a:xfrm>
            <a:off x="8651875" y="6492875"/>
            <a:ext cx="361950" cy="274638"/>
          </a:xfrm>
          <a:prstGeom prst="rect">
            <a:avLst/>
          </a:prstGeom>
          <a:noFill/>
          <a:ln w="12700">
            <a:noFill/>
            <a:miter lim="800000"/>
            <a:headEnd type="none" w="sm" len="sm"/>
            <a:tailEnd type="none" w="sm" len="sm"/>
          </a:ln>
          <a:effectLst/>
        </p:spPr>
        <p:txBody>
          <a:bodyPr wrap="none">
            <a:spAutoFit/>
          </a:bodyPr>
          <a:lstStyle>
            <a:lvl1pPr>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1pPr>
            <a:lvl2pPr marL="37931725" indent="-37474525">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cs typeface="ＭＳ Ｐゴシック" panose="020B0600070205080204" pitchFamily="34" charset="-128"/>
              </a:defRPr>
            </a:lvl9pPr>
          </a:lstStyle>
          <a:p>
            <a:pPr>
              <a:defRPr/>
            </a:pPr>
            <a:fld id="{F94BCF19-6558-E04D-ACFE-55C74ABD9017}" type="slidenum">
              <a:rPr lang="en-US" altLang="en-US" sz="1200" smtClean="0"/>
              <a:pPr>
                <a:defRPr/>
              </a:pPr>
              <a:t>‹#›</a:t>
            </a:fld>
            <a:endParaRPr lang="en-US" altLang="en-US" sz="1200"/>
          </a:p>
        </p:txBody>
      </p:sp>
      <p:pic>
        <p:nvPicPr>
          <p:cNvPr id="1033" name="Picture 9" descr="&#13;ArkLogo_2.png                                                  00072A12Macintosh HD                   C3BEAED8:">
            <a:extLst>
              <a:ext uri="{FF2B5EF4-FFF2-40B4-BE49-F238E27FC236}">
                <a16:creationId xmlns:a16="http://schemas.microsoft.com/office/drawing/2014/main" id="{DBA13D92-B507-495C-B7FD-9A03B1F8E3D1}"/>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34963" y="5864225"/>
            <a:ext cx="936625" cy="993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txStyles>
    <p:titleStyle>
      <a:lvl1pPr algn="l" rtl="0" eaLnBrk="0" fontAlgn="base" hangingPunct="0">
        <a:spcBef>
          <a:spcPct val="0"/>
        </a:spcBef>
        <a:spcAft>
          <a:spcPct val="0"/>
        </a:spcAft>
        <a:defRPr sz="3600">
          <a:solidFill>
            <a:schemeClr val="tx2"/>
          </a:solidFill>
          <a:latin typeface="+mj-lt"/>
          <a:ea typeface="ＭＳ Ｐゴシック" pitchFamily="-110" charset="-128"/>
          <a:cs typeface="ＭＳ Ｐゴシック" pitchFamily="-110" charset="-128"/>
        </a:defRPr>
      </a:lvl1pPr>
      <a:lvl2pPr algn="l" rtl="0" eaLnBrk="0" fontAlgn="base" hangingPunct="0">
        <a:spcBef>
          <a:spcPct val="0"/>
        </a:spcBef>
        <a:spcAft>
          <a:spcPct val="0"/>
        </a:spcAft>
        <a:defRPr sz="3600">
          <a:solidFill>
            <a:schemeClr val="tx2"/>
          </a:solidFill>
          <a:latin typeface="Comic Sans MS" pitchFamily="-110" charset="0"/>
          <a:ea typeface="ＭＳ Ｐゴシック" pitchFamily="-110" charset="-128"/>
          <a:cs typeface="ＭＳ Ｐゴシック" pitchFamily="-110" charset="-128"/>
        </a:defRPr>
      </a:lvl2pPr>
      <a:lvl3pPr algn="l" rtl="0" eaLnBrk="0" fontAlgn="base" hangingPunct="0">
        <a:spcBef>
          <a:spcPct val="0"/>
        </a:spcBef>
        <a:spcAft>
          <a:spcPct val="0"/>
        </a:spcAft>
        <a:defRPr sz="3600">
          <a:solidFill>
            <a:schemeClr val="tx2"/>
          </a:solidFill>
          <a:latin typeface="Comic Sans MS" pitchFamily="-110" charset="0"/>
          <a:ea typeface="ＭＳ Ｐゴシック" pitchFamily="-110" charset="-128"/>
          <a:cs typeface="ＭＳ Ｐゴシック" pitchFamily="-110" charset="-128"/>
        </a:defRPr>
      </a:lvl3pPr>
      <a:lvl4pPr algn="l" rtl="0" eaLnBrk="0" fontAlgn="base" hangingPunct="0">
        <a:spcBef>
          <a:spcPct val="0"/>
        </a:spcBef>
        <a:spcAft>
          <a:spcPct val="0"/>
        </a:spcAft>
        <a:defRPr sz="3600">
          <a:solidFill>
            <a:schemeClr val="tx2"/>
          </a:solidFill>
          <a:latin typeface="Comic Sans MS" pitchFamily="-110" charset="0"/>
          <a:ea typeface="ＭＳ Ｐゴシック" pitchFamily="-110" charset="-128"/>
          <a:cs typeface="ＭＳ Ｐゴシック" pitchFamily="-110" charset="-128"/>
        </a:defRPr>
      </a:lvl4pPr>
      <a:lvl5pPr algn="l" rtl="0" eaLnBrk="0" fontAlgn="base" hangingPunct="0">
        <a:spcBef>
          <a:spcPct val="0"/>
        </a:spcBef>
        <a:spcAft>
          <a:spcPct val="0"/>
        </a:spcAft>
        <a:defRPr sz="3600">
          <a:solidFill>
            <a:schemeClr val="tx2"/>
          </a:solidFill>
          <a:latin typeface="Comic Sans MS" pitchFamily="-110" charset="0"/>
          <a:ea typeface="ＭＳ Ｐゴシック" pitchFamily="-110" charset="-128"/>
          <a:cs typeface="ＭＳ Ｐゴシック" pitchFamily="-110" charset="-128"/>
        </a:defRPr>
      </a:lvl5pPr>
      <a:lvl6pPr marL="457200" algn="l" rtl="0" eaLnBrk="0" fontAlgn="base" hangingPunct="0">
        <a:spcBef>
          <a:spcPct val="0"/>
        </a:spcBef>
        <a:spcAft>
          <a:spcPct val="0"/>
        </a:spcAft>
        <a:defRPr sz="3600">
          <a:solidFill>
            <a:schemeClr val="tx2"/>
          </a:solidFill>
          <a:latin typeface="Comic Sans MS" pitchFamily="-110" charset="0"/>
        </a:defRPr>
      </a:lvl6pPr>
      <a:lvl7pPr marL="914400" algn="l" rtl="0" eaLnBrk="0" fontAlgn="base" hangingPunct="0">
        <a:spcBef>
          <a:spcPct val="0"/>
        </a:spcBef>
        <a:spcAft>
          <a:spcPct val="0"/>
        </a:spcAft>
        <a:defRPr sz="3600">
          <a:solidFill>
            <a:schemeClr val="tx2"/>
          </a:solidFill>
          <a:latin typeface="Comic Sans MS" pitchFamily="-110" charset="0"/>
        </a:defRPr>
      </a:lvl7pPr>
      <a:lvl8pPr marL="1371600" algn="l" rtl="0" eaLnBrk="0" fontAlgn="base" hangingPunct="0">
        <a:spcBef>
          <a:spcPct val="0"/>
        </a:spcBef>
        <a:spcAft>
          <a:spcPct val="0"/>
        </a:spcAft>
        <a:defRPr sz="3600">
          <a:solidFill>
            <a:schemeClr val="tx2"/>
          </a:solidFill>
          <a:latin typeface="Comic Sans MS" pitchFamily="-110" charset="0"/>
        </a:defRPr>
      </a:lvl8pPr>
      <a:lvl9pPr marL="1828800" algn="l" rtl="0" eaLnBrk="0" fontAlgn="base" hangingPunct="0">
        <a:spcBef>
          <a:spcPct val="0"/>
        </a:spcBef>
        <a:spcAft>
          <a:spcPct val="0"/>
        </a:spcAft>
        <a:defRPr sz="3600">
          <a:solidFill>
            <a:schemeClr val="tx2"/>
          </a:solidFill>
          <a:latin typeface="Comic Sans MS" pitchFamily="-110" charset="0"/>
        </a:defRPr>
      </a:lvl9pPr>
    </p:titleStyle>
    <p:bodyStyle>
      <a:lvl1pPr marL="342900" indent="-342900" algn="l" rtl="0" eaLnBrk="0" fontAlgn="base" hangingPunct="0">
        <a:spcBef>
          <a:spcPct val="20000"/>
        </a:spcBef>
        <a:spcAft>
          <a:spcPct val="0"/>
        </a:spcAft>
        <a:buSzPct val="100000"/>
        <a:buChar char="•"/>
        <a:defRPr sz="2800">
          <a:solidFill>
            <a:schemeClr val="tx1"/>
          </a:solidFill>
          <a:latin typeface="+mn-lt"/>
          <a:ea typeface="ＭＳ Ｐゴシック" pitchFamily="-110" charset="-128"/>
          <a:cs typeface="ＭＳ Ｐゴシック" pitchFamily="-110" charset="-128"/>
        </a:defRPr>
      </a:lvl1pPr>
      <a:lvl2pPr marL="742950" indent="-285750" algn="l" rtl="0" eaLnBrk="0" fontAlgn="base" hangingPunct="0">
        <a:spcBef>
          <a:spcPct val="20000"/>
        </a:spcBef>
        <a:spcAft>
          <a:spcPct val="0"/>
        </a:spcAft>
        <a:buSzPct val="100000"/>
        <a:buChar char="•"/>
        <a:defRPr sz="2000">
          <a:solidFill>
            <a:schemeClr val="tx1"/>
          </a:solidFill>
          <a:latin typeface="+mn-lt"/>
          <a:ea typeface="ＭＳ Ｐゴシック" pitchFamily="-110" charset="-128"/>
          <a:cs typeface="ＭＳ Ｐゴシック" charset="-128"/>
        </a:defRPr>
      </a:lvl2pPr>
      <a:lvl3pPr marL="1143000" indent="-228600" algn="l" rtl="0" eaLnBrk="0" fontAlgn="base" hangingPunct="0">
        <a:spcBef>
          <a:spcPct val="20000"/>
        </a:spcBef>
        <a:spcAft>
          <a:spcPct val="0"/>
        </a:spcAft>
        <a:buSzPct val="100000"/>
        <a:buChar char="–"/>
        <a:defRPr sz="2000">
          <a:solidFill>
            <a:schemeClr val="tx1"/>
          </a:solidFill>
          <a:latin typeface="+mn-lt"/>
          <a:ea typeface="ＭＳ Ｐゴシック" pitchFamily="-110" charset="-128"/>
          <a:cs typeface="ＭＳ Ｐゴシック" charset="-128"/>
        </a:defRPr>
      </a:lvl3pPr>
      <a:lvl4pPr marL="1600200" indent="-228600" algn="l" rtl="0" eaLnBrk="0" fontAlgn="base" hangingPunct="0">
        <a:spcBef>
          <a:spcPct val="20000"/>
        </a:spcBef>
        <a:spcAft>
          <a:spcPct val="0"/>
        </a:spcAft>
        <a:buSzPct val="100000"/>
        <a:buChar char="–"/>
        <a:defRPr>
          <a:solidFill>
            <a:schemeClr val="tx1"/>
          </a:solidFill>
          <a:latin typeface="+mn-lt"/>
          <a:ea typeface="ＭＳ Ｐゴシック" pitchFamily="-110" charset="-128"/>
          <a:cs typeface="ＭＳ Ｐゴシック" charset="-128"/>
        </a:defRPr>
      </a:lvl4pPr>
      <a:lvl5pPr marL="2057400" indent="-228600" algn="l" rtl="0" eaLnBrk="0" fontAlgn="base" hangingPunct="0">
        <a:spcBef>
          <a:spcPct val="20000"/>
        </a:spcBef>
        <a:spcAft>
          <a:spcPct val="0"/>
        </a:spcAft>
        <a:buSzPct val="100000"/>
        <a:buChar char="•"/>
        <a:defRPr>
          <a:solidFill>
            <a:schemeClr val="tx1"/>
          </a:solidFill>
          <a:latin typeface="+mn-lt"/>
          <a:ea typeface="ＭＳ Ｐゴシック" pitchFamily="-110" charset="-128"/>
          <a:cs typeface="ＭＳ Ｐゴシック" charset="-128"/>
        </a:defRPr>
      </a:lvl5pPr>
      <a:lvl6pPr marL="2514600" indent="-228600" algn="l" rtl="0" eaLnBrk="0" fontAlgn="base" hangingPunct="0">
        <a:spcBef>
          <a:spcPct val="20000"/>
        </a:spcBef>
        <a:spcAft>
          <a:spcPct val="0"/>
        </a:spcAft>
        <a:buSzPct val="100000"/>
        <a:buChar char="•"/>
        <a:defRPr>
          <a:solidFill>
            <a:schemeClr val="tx1"/>
          </a:solidFill>
          <a:latin typeface="+mn-lt"/>
          <a:ea typeface="ＭＳ Ｐゴシック" pitchFamily="-110" charset="-128"/>
        </a:defRPr>
      </a:lvl6pPr>
      <a:lvl7pPr marL="2971800" indent="-228600" algn="l" rtl="0" eaLnBrk="0" fontAlgn="base" hangingPunct="0">
        <a:spcBef>
          <a:spcPct val="20000"/>
        </a:spcBef>
        <a:spcAft>
          <a:spcPct val="0"/>
        </a:spcAft>
        <a:buSzPct val="100000"/>
        <a:buChar char="•"/>
        <a:defRPr>
          <a:solidFill>
            <a:schemeClr val="tx1"/>
          </a:solidFill>
          <a:latin typeface="+mn-lt"/>
          <a:ea typeface="ＭＳ Ｐゴシック" pitchFamily="-110" charset="-128"/>
        </a:defRPr>
      </a:lvl7pPr>
      <a:lvl8pPr marL="3429000" indent="-228600" algn="l" rtl="0" eaLnBrk="0" fontAlgn="base" hangingPunct="0">
        <a:spcBef>
          <a:spcPct val="20000"/>
        </a:spcBef>
        <a:spcAft>
          <a:spcPct val="0"/>
        </a:spcAft>
        <a:buSzPct val="100000"/>
        <a:buChar char="•"/>
        <a:defRPr>
          <a:solidFill>
            <a:schemeClr val="tx1"/>
          </a:solidFill>
          <a:latin typeface="+mn-lt"/>
          <a:ea typeface="ＭＳ Ｐゴシック" pitchFamily="-110" charset="-128"/>
        </a:defRPr>
      </a:lvl8pPr>
      <a:lvl9pPr marL="3886200" indent="-228600" algn="l" rtl="0" eaLnBrk="0" fontAlgn="base" hangingPunct="0">
        <a:spcBef>
          <a:spcPct val="20000"/>
        </a:spcBef>
        <a:spcAft>
          <a:spcPct val="0"/>
        </a:spcAft>
        <a:buSzPct val="100000"/>
        <a:buChar char="•"/>
        <a:defRPr>
          <a:solidFill>
            <a:schemeClr val="tx1"/>
          </a:solidFill>
          <a:latin typeface="+mn-lt"/>
          <a:ea typeface="ＭＳ Ｐゴシック" pitchFamily="-110"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Dandrews@eecs.ukans.edu"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gif"/><Relationship Id="rId2" Type="http://schemas.openxmlformats.org/officeDocument/2006/relationships/hyperlink" Target="https://dl.acm.org/cms/attachment/e7da3bf4-8f96-48a1-9be7-968ed4215f8e/cacm6307_a.gif"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7" name="Rectangle 2">
            <a:extLst>
              <a:ext uri="{FF2B5EF4-FFF2-40B4-BE49-F238E27FC236}">
                <a16:creationId xmlns:a16="http://schemas.microsoft.com/office/drawing/2014/main" id="{236B1E1C-6591-B1BD-6BEF-76196B06D5F1}"/>
              </a:ext>
            </a:extLst>
          </p:cNvPr>
          <p:cNvSpPr>
            <a:spLocks noGrp="1" noChangeArrowheads="1"/>
          </p:cNvSpPr>
          <p:nvPr>
            <p:ph type="ctrTitle"/>
          </p:nvPr>
        </p:nvSpPr>
        <p:spPr>
          <a:xfrm>
            <a:off x="685800" y="1679028"/>
            <a:ext cx="7772400" cy="1143000"/>
          </a:xfrm>
        </p:spPr>
        <p:txBody>
          <a:bodyPr/>
          <a:lstStyle/>
          <a:p>
            <a:pPr algn="ctr"/>
            <a:r>
              <a:rPr lang="en-US" altLang="en-US" sz="2800" dirty="0">
                <a:ea typeface="ＭＳ Ｐゴシック" panose="020B0600070205080204" pitchFamily="34" charset="-128"/>
                <a:cs typeface="ＭＳ Ｐゴシック" panose="020B0600070205080204" pitchFamily="34" charset="-128"/>
              </a:rPr>
              <a:t>Domain Specific Architectures</a:t>
            </a:r>
            <a:br>
              <a:rPr lang="en-US" altLang="en-US" sz="2800" dirty="0">
                <a:ea typeface="ＭＳ Ｐゴシック" panose="020B0600070205080204" pitchFamily="34" charset="-128"/>
                <a:cs typeface="ＭＳ Ｐゴシック" panose="020B0600070205080204" pitchFamily="34" charset="-128"/>
              </a:rPr>
            </a:br>
            <a:r>
              <a:rPr lang="en-US" altLang="en-US" sz="2800" dirty="0">
                <a:ea typeface="ＭＳ Ｐゴシック" panose="020B0600070205080204" pitchFamily="34" charset="-128"/>
                <a:cs typeface="ＭＳ Ｐゴシック" panose="020B0600070205080204" pitchFamily="34" charset="-128"/>
              </a:rPr>
              <a:t>CSCE 4013/5013</a:t>
            </a:r>
          </a:p>
        </p:txBody>
      </p:sp>
      <p:sp>
        <p:nvSpPr>
          <p:cNvPr id="4098" name="Rectangle 3">
            <a:extLst>
              <a:ext uri="{FF2B5EF4-FFF2-40B4-BE49-F238E27FC236}">
                <a16:creationId xmlns:a16="http://schemas.microsoft.com/office/drawing/2014/main" id="{BC3AF4CA-6ED9-37BB-6022-3CED7C77AB4E}"/>
              </a:ext>
            </a:extLst>
          </p:cNvPr>
          <p:cNvSpPr>
            <a:spLocks noGrp="1" noChangeArrowheads="1"/>
          </p:cNvSpPr>
          <p:nvPr>
            <p:ph type="subTitle" idx="1"/>
          </p:nvPr>
        </p:nvSpPr>
        <p:spPr>
          <a:xfrm>
            <a:off x="1447800" y="3048000"/>
            <a:ext cx="6400800" cy="1752600"/>
          </a:xfrm>
        </p:spPr>
        <p:txBody>
          <a:bodyPr/>
          <a:lstStyle/>
          <a:p>
            <a:r>
              <a:rPr lang="en-US" altLang="en-US" sz="2000" dirty="0">
                <a:ea typeface="ＭＳ Ｐゴシック" panose="020B0600070205080204" pitchFamily="34" charset="-128"/>
                <a:cs typeface="ＭＳ Ｐゴシック" panose="020B0600070205080204" pitchFamily="34" charset="-128"/>
              </a:rPr>
              <a:t>David Andrews</a:t>
            </a:r>
          </a:p>
          <a:p>
            <a:r>
              <a:rPr lang="en-US" altLang="en-US" sz="2000" dirty="0">
                <a:ea typeface="ＭＳ Ｐゴシック" panose="020B0600070205080204" pitchFamily="34" charset="-128"/>
                <a:cs typeface="ＭＳ Ｐゴシック" panose="020B0600070205080204" pitchFamily="34" charset="-128"/>
              </a:rPr>
              <a:t>Rm 527 JBHT</a:t>
            </a:r>
          </a:p>
          <a:p>
            <a:r>
              <a:rPr lang="en-US" altLang="en-US" sz="2000" dirty="0">
                <a:ea typeface="ＭＳ Ｐゴシック" panose="020B0600070205080204" pitchFamily="34" charset="-128"/>
                <a:cs typeface="ＭＳ Ｐゴシック" panose="020B0600070205080204" pitchFamily="34" charset="-128"/>
                <a:hlinkClick r:id="rId2"/>
              </a:rPr>
              <a:t>dandrews@uark.edu</a:t>
            </a:r>
            <a:endParaRPr lang="en-US" altLang="en-US" sz="2000" dirty="0">
              <a:ea typeface="ＭＳ Ｐゴシック" panose="020B0600070205080204" pitchFamily="34" charset="-128"/>
              <a:cs typeface="ＭＳ Ｐゴシック" panose="020B0600070205080204" pitchFamily="34" charset="-128"/>
            </a:endParaRPr>
          </a:p>
          <a:p>
            <a:r>
              <a:rPr lang="en-US" altLang="en-US" sz="2000" dirty="0">
                <a:ea typeface="ＭＳ Ｐゴシック" panose="020B0600070205080204" pitchFamily="34" charset="-128"/>
                <a:cs typeface="ＭＳ Ｐゴシック" panose="020B0600070205080204" pitchFamily="34" charset="-128"/>
              </a:rPr>
              <a:t>CSCE University of Arkansas</a:t>
            </a:r>
          </a:p>
          <a:p>
            <a:endParaRPr lang="en-US" altLang="en-US" sz="2000" dirty="0">
              <a:ea typeface="ＭＳ Ｐゴシック" panose="020B0600070205080204" pitchFamily="34" charset="-128"/>
              <a:cs typeface="ＭＳ Ｐゴシック" panose="020B0600070205080204" pitchFamily="34" charset="-128"/>
            </a:endParaRPr>
          </a:p>
          <a:p>
            <a:r>
              <a:rPr lang="en-US" altLang="en-US" sz="2000" dirty="0">
                <a:ea typeface="ＭＳ Ｐゴシック" panose="020B0600070205080204" pitchFamily="34" charset="-128"/>
                <a:cs typeface="ＭＳ Ｐゴシック" panose="020B0600070205080204" pitchFamily="34" charset="-128"/>
              </a:rPr>
              <a:t>Office </a:t>
            </a:r>
            <a:r>
              <a:rPr lang="en-US" altLang="en-US" sz="2000" dirty="0" err="1">
                <a:ea typeface="ＭＳ Ｐゴシック" panose="020B0600070205080204" pitchFamily="34" charset="-128"/>
                <a:cs typeface="ＭＳ Ｐゴシック" panose="020B0600070205080204" pitchFamily="34" charset="-128"/>
              </a:rPr>
              <a:t>Hrs</a:t>
            </a:r>
            <a:r>
              <a:rPr lang="en-US" altLang="en-US" sz="2000" dirty="0">
                <a:ea typeface="ＭＳ Ｐゴシック" panose="020B0600070205080204" pitchFamily="34" charset="-128"/>
                <a:cs typeface="ＭＳ Ｐゴシック" panose="020B0600070205080204" pitchFamily="34" charset="-128"/>
              </a:rPr>
              <a:t>:  2:00 – 3:00 MWF</a:t>
            </a:r>
          </a:p>
          <a:p>
            <a:r>
              <a:rPr lang="en-US" altLang="en-US" sz="2000" dirty="0">
                <a:ea typeface="ＭＳ Ｐゴシック" panose="020B0600070205080204" pitchFamily="34" charset="-128"/>
                <a:cs typeface="ＭＳ Ｐゴシック" panose="020B0600070205080204" pitchFamily="34" charset="-128"/>
              </a:rPr>
              <a:t>Class website: https://</a:t>
            </a:r>
            <a:r>
              <a:rPr lang="en-US" altLang="en-US" sz="2000" dirty="0" err="1">
                <a:ea typeface="ＭＳ Ｐゴシック" panose="020B0600070205080204" pitchFamily="34" charset="-128"/>
                <a:cs typeface="ＭＳ Ｐゴシック" panose="020B0600070205080204" pitchFamily="34" charset="-128"/>
              </a:rPr>
              <a:t>hthreads.github.io</a:t>
            </a:r>
            <a:r>
              <a:rPr lang="en-US" altLang="en-US" sz="2000" dirty="0">
                <a:ea typeface="ＭＳ Ｐゴシック" panose="020B0600070205080204" pitchFamily="34" charset="-128"/>
                <a:cs typeface="ＭＳ Ｐゴシック" panose="020B0600070205080204" pitchFamily="34" charset="-128"/>
              </a:rPr>
              <a:t>/classes/domain-specific-accelerators</a:t>
            </a:r>
          </a:p>
        </p:txBody>
      </p:sp>
      <p:sp>
        <p:nvSpPr>
          <p:cNvPr id="2" name="TextBox 1">
            <a:extLst>
              <a:ext uri="{FF2B5EF4-FFF2-40B4-BE49-F238E27FC236}">
                <a16:creationId xmlns:a16="http://schemas.microsoft.com/office/drawing/2014/main" id="{BC57CC27-B8FE-2041-522F-90750CF476AC}"/>
              </a:ext>
            </a:extLst>
          </p:cNvPr>
          <p:cNvSpPr txBox="1"/>
          <p:nvPr/>
        </p:nvSpPr>
        <p:spPr>
          <a:xfrm>
            <a:off x="3187005" y="449759"/>
            <a:ext cx="3360856" cy="923330"/>
          </a:xfrm>
          <a:prstGeom prst="rect">
            <a:avLst/>
          </a:prstGeom>
          <a:noFill/>
        </p:spPr>
        <p:txBody>
          <a:bodyPr wrap="none" rtlCol="0">
            <a:spAutoFit/>
          </a:bodyPr>
          <a:lstStyle/>
          <a:p>
            <a:r>
              <a:rPr lang="en-US" sz="5400" dirty="0"/>
              <a:t>Welcome !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p:txBody>
          <a:bodyPr/>
          <a:lstStyle/>
          <a:p>
            <a:r>
              <a:rPr lang="en-US" altLang="en-US" dirty="0">
                <a:ea typeface="ＭＳ Ｐゴシック" panose="020B0600070205080204" pitchFamily="34" charset="-128"/>
                <a:cs typeface="ＭＳ Ｐゴシック" panose="020B0600070205080204" pitchFamily="34" charset="-128"/>
              </a:rPr>
              <a:t>Course Overview</a:t>
            </a: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524000"/>
            <a:ext cx="8534400" cy="4572000"/>
          </a:xfrm>
        </p:spPr>
        <p:txBody>
          <a:bodyPr/>
          <a:lstStyle/>
          <a:p>
            <a:pPr>
              <a:defRPr/>
            </a:pPr>
            <a:r>
              <a:rPr lang="en-US" altLang="en-US" dirty="0">
                <a:ea typeface="ＭＳ Ｐゴシック" panose="020B0600070205080204" pitchFamily="34" charset="-128"/>
                <a:cs typeface="ＭＳ Ｐゴシック" panose="020B0600070205080204" pitchFamily="34" charset="-128"/>
              </a:rPr>
              <a:t>What is a Domain Specific Architecture ?</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r>
              <a:rPr lang="en-US" altLang="en-US" dirty="0">
                <a:ea typeface="ＭＳ Ｐゴシック" panose="020B0600070205080204" pitchFamily="34" charset="-128"/>
                <a:cs typeface="ＭＳ Ｐゴシック" panose="020B0600070205080204" pitchFamily="34" charset="-128"/>
              </a:rPr>
              <a:t>What will we study during the semester ?</a:t>
            </a:r>
          </a:p>
          <a:p>
            <a:pPr>
              <a:defRPr/>
            </a:pPr>
            <a:endParaRPr lang="en-US" altLang="en-US" dirty="0">
              <a:ea typeface="ＭＳ Ｐゴシック" panose="020B0600070205080204" pitchFamily="34" charset="-128"/>
              <a:cs typeface="ＭＳ Ｐゴシック" panose="020B0600070205080204" pitchFamily="34" charset="-128"/>
            </a:endParaRPr>
          </a:p>
          <a:p>
            <a:pPr>
              <a:defRPr/>
            </a:pPr>
            <a:r>
              <a:rPr lang="en-US" altLang="en-US" dirty="0">
                <a:ea typeface="ＭＳ Ｐゴシック" panose="020B0600070205080204" pitchFamily="34" charset="-128"/>
                <a:cs typeface="ＭＳ Ｐゴシック" panose="020B0600070205080204" pitchFamily="34" charset="-128"/>
              </a:rPr>
              <a:t>What will be your involvement ?</a:t>
            </a:r>
          </a:p>
          <a:p>
            <a:pPr>
              <a:defRPr/>
            </a:pPr>
            <a:endParaRPr lang="en-US" altLang="en-US" dirty="0">
              <a:ea typeface="ＭＳ Ｐゴシック" panose="020B0600070205080204" pitchFamily="34" charset="-128"/>
              <a:cs typeface="ＭＳ Ｐゴシック" panose="020B0600070205080204" pitchFamily="34" charset="-128"/>
            </a:endParaRPr>
          </a:p>
          <a:p>
            <a:pPr>
              <a:defRPr/>
            </a:pPr>
            <a:r>
              <a:rPr lang="en-US" altLang="en-US" dirty="0">
                <a:ea typeface="ＭＳ Ｐゴシック" panose="020B0600070205080204" pitchFamily="34" charset="-128"/>
                <a:cs typeface="ＭＳ Ｐゴシック" panose="020B0600070205080204" pitchFamily="34" charset="-128"/>
              </a:rPr>
              <a:t>How will you be graded ?</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33400" y="762000"/>
            <a:ext cx="8229600" cy="838200"/>
          </a:xfrm>
        </p:spPr>
        <p:txBody>
          <a:bodyPr/>
          <a:lstStyle/>
          <a:p>
            <a:r>
              <a:rPr lang="en-US" altLang="en-US" sz="3200" dirty="0">
                <a:ea typeface="ＭＳ Ｐゴシック" panose="020B0600070205080204" pitchFamily="34" charset="-128"/>
                <a:cs typeface="ＭＳ Ｐゴシック" panose="020B0600070205080204" pitchFamily="34" charset="-128"/>
              </a:rPr>
              <a:t>What is a Domain Specific Architecture ?</a:t>
            </a: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524000"/>
            <a:ext cx="7924800" cy="4572000"/>
          </a:xfrm>
        </p:spPr>
        <p:txBody>
          <a:bodyPr/>
          <a:lstStyle/>
          <a:p>
            <a:pPr marL="0" indent="0">
              <a:buNone/>
              <a:defRPr/>
            </a:pPr>
            <a:r>
              <a:rPr lang="en-US" altLang="en-US" dirty="0">
                <a:ea typeface="ＭＳ Ｐゴシック" panose="020B0600070205080204" pitchFamily="34" charset="-128"/>
                <a:cs typeface="ＭＳ Ｐゴシック" panose="020B0600070205080204" pitchFamily="34" charset="-128"/>
              </a:rPr>
              <a:t>A Hardware Architecture: Designed for a Specific Domain of Applications.  Examples:</a:t>
            </a:r>
            <a:endParaRPr lang="en-US" altLang="en-US" i="1" dirty="0">
              <a:ea typeface="ＭＳ Ｐゴシック" panose="020B0600070205080204" pitchFamily="34" charset="-128"/>
              <a:cs typeface="ＭＳ Ｐゴシック" panose="020B0600070205080204" pitchFamily="34" charset="-128"/>
            </a:endParaRPr>
          </a:p>
          <a:p>
            <a:pPr lvl="1">
              <a:buFont typeface="Arial" panose="020B0604020202020204" pitchFamily="34" charset="0"/>
              <a:buChar char="•"/>
              <a:defRPr/>
            </a:pPr>
            <a:r>
              <a:rPr lang="en-US" altLang="en-US" i="1" dirty="0">
                <a:ea typeface="ＭＳ Ｐゴシック" panose="020B0600070205080204" pitchFamily="34" charset="-128"/>
                <a:cs typeface="ＭＳ Ｐゴシック" panose="020B0600070205080204" pitchFamily="34" charset="-128"/>
              </a:rPr>
              <a:t>Graphics</a:t>
            </a:r>
          </a:p>
          <a:p>
            <a:pPr lvl="1">
              <a:buFont typeface="Arial" panose="020B0604020202020204" pitchFamily="34" charset="0"/>
              <a:buChar char="•"/>
              <a:defRPr/>
            </a:pPr>
            <a:r>
              <a:rPr lang="en-US" altLang="en-US" i="1" dirty="0">
                <a:ea typeface="ＭＳ Ｐゴシック" panose="020B0600070205080204" pitchFamily="34" charset="-128"/>
                <a:cs typeface="ＭＳ Ｐゴシック" panose="020B0600070205080204" pitchFamily="34" charset="-128"/>
              </a:rPr>
              <a:t>Image Processing</a:t>
            </a:r>
          </a:p>
          <a:p>
            <a:pPr lvl="1">
              <a:buFont typeface="Arial" panose="020B0604020202020204" pitchFamily="34" charset="0"/>
              <a:buChar char="•"/>
              <a:defRPr/>
            </a:pPr>
            <a:r>
              <a:rPr lang="en-US" altLang="en-US" i="1" dirty="0">
                <a:ea typeface="ＭＳ Ｐゴシック" panose="020B0600070205080204" pitchFamily="34" charset="-128"/>
                <a:cs typeface="ＭＳ Ｐゴシック" panose="020B0600070205080204" pitchFamily="34" charset="-128"/>
              </a:rPr>
              <a:t>Deep Learning</a:t>
            </a:r>
            <a:endParaRPr lang="en-US" altLang="en-US" dirty="0">
              <a:ea typeface="ＭＳ Ｐゴシック" panose="020B0600070205080204" pitchFamily="34" charset="-128"/>
              <a:cs typeface="ＭＳ Ｐゴシック" panose="020B0600070205080204" pitchFamily="34" charset="-128"/>
            </a:endParaRPr>
          </a:p>
          <a:p>
            <a:pPr marL="0" indent="0">
              <a:buNone/>
              <a:defRPr/>
            </a:pPr>
            <a:r>
              <a:rPr lang="en-US" altLang="en-US" dirty="0">
                <a:ea typeface="ＭＳ Ｐゴシック" panose="020B0600070205080204" pitchFamily="34" charset="-128"/>
                <a:cs typeface="ＭＳ Ｐゴシック" panose="020B0600070205080204" pitchFamily="34" charset="-128"/>
              </a:rPr>
              <a:t>General Purpose Architectures: Designed to be flexible enough to do everything but not optimal for anything </a:t>
            </a:r>
            <a:r>
              <a:rPr lang="en-US" altLang="en-US" dirty="0">
                <a:ea typeface="ＭＳ Ｐゴシック" panose="020B0600070205080204" pitchFamily="34" charset="-128"/>
                <a:cs typeface="ＭＳ Ｐゴシック" panose="020B0600070205080204" pitchFamily="34" charset="-128"/>
                <a:sym typeface="Wingdings" pitchFamily="2" charset="2"/>
              </a:rPr>
              <a:t> </a:t>
            </a:r>
            <a:r>
              <a:rPr lang="en-US" altLang="en-US" dirty="0">
                <a:ea typeface="ＭＳ Ｐゴシック" panose="020B0600070205080204" pitchFamily="34" charset="-128"/>
                <a:cs typeface="ＭＳ Ｐゴシック" panose="020B0600070205080204" pitchFamily="34" charset="-128"/>
              </a:rPr>
              <a:t>   </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What was first GP </a:t>
            </a:r>
            <a:r>
              <a:rPr lang="en-US" altLang="en-US" dirty="0" err="1">
                <a:ea typeface="ＭＳ Ｐゴシック" panose="020B0600070205080204" pitchFamily="34" charset="-128"/>
                <a:cs typeface="ＭＳ Ｐゴシック" panose="020B0600070205080204" pitchFamily="34" charset="-128"/>
              </a:rPr>
              <a:t>uProcessor</a:t>
            </a:r>
            <a:r>
              <a:rPr lang="en-US" altLang="en-US" dirty="0">
                <a:ea typeface="ＭＳ Ｐゴシック" panose="020B0600070205080204" pitchFamily="34" charset="-128"/>
                <a:cs typeface="ＭＳ Ｐゴシック" panose="020B0600070205080204" pitchFamily="34" charset="-128"/>
              </a:rPr>
              <a:t> ?</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Turing Complete ?</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extLst>
      <p:ext uri="{BB962C8B-B14F-4D97-AF65-F5344CB8AC3E}">
        <p14:creationId xmlns:p14="http://schemas.microsoft.com/office/powerpoint/2010/main" val="7697177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33400" y="762000"/>
            <a:ext cx="8229600" cy="838200"/>
          </a:xfrm>
        </p:spPr>
        <p:txBody>
          <a:bodyPr/>
          <a:lstStyle/>
          <a:p>
            <a:r>
              <a:rPr lang="en-US" altLang="en-US" sz="3200" dirty="0">
                <a:ea typeface="ＭＳ Ｐゴシック" panose="020B0600070205080204" pitchFamily="34" charset="-128"/>
                <a:cs typeface="ＭＳ Ｐゴシック" panose="020B0600070205080204" pitchFamily="34" charset="-128"/>
              </a:rPr>
              <a:t>What is a Domain Specific Architecture ?</a:t>
            </a: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990600" y="1295400"/>
            <a:ext cx="7924800" cy="4572000"/>
          </a:xfrm>
        </p:spPr>
        <p:txBody>
          <a:bodyPr/>
          <a:lstStyle/>
          <a:p>
            <a:pPr marL="0" indent="0">
              <a:buNone/>
              <a:defRPr/>
            </a:pPr>
            <a:r>
              <a:rPr lang="en-US" altLang="en-US" dirty="0">
                <a:ea typeface="ＭＳ Ｐゴシック" panose="020B0600070205080204" pitchFamily="34" charset="-128"/>
                <a:cs typeface="ＭＳ Ｐゴシック" panose="020B0600070205080204" pitchFamily="34" charset="-128"/>
              </a:rPr>
              <a:t>Generally Accompanied by a Domain Specific Language: </a:t>
            </a:r>
          </a:p>
          <a:p>
            <a:pPr marL="0" indent="0">
              <a:buNone/>
              <a:defRPr/>
            </a:pPr>
            <a:r>
              <a:rPr lang="en-US" altLang="en-US" dirty="0">
                <a:ea typeface="ＭＳ Ｐゴシック" panose="020B0600070205080204" pitchFamily="34" charset="-128"/>
                <a:cs typeface="ＭＳ Ｐゴシック" panose="020B0600070205080204" pitchFamily="34" charset="-128"/>
              </a:rPr>
              <a:t>	Python, OpenCL</a:t>
            </a:r>
          </a:p>
          <a:p>
            <a:pPr marL="0" indent="0">
              <a:buNone/>
              <a:defRPr/>
            </a:pPr>
            <a:r>
              <a:rPr lang="en-US" altLang="en-US" dirty="0">
                <a:ea typeface="ＭＳ Ｐゴシック" panose="020B0600070205080204" pitchFamily="34" charset="-128"/>
                <a:cs typeface="ＭＳ Ｐゴシック" panose="020B0600070205080204" pitchFamily="34" charset="-128"/>
              </a:rPr>
              <a:t>	</a:t>
            </a:r>
            <a:r>
              <a:rPr lang="en-US" altLang="en-US" dirty="0" err="1">
                <a:ea typeface="ＭＳ Ｐゴシック" panose="020B0600070205080204" pitchFamily="34" charset="-128"/>
                <a:cs typeface="ＭＳ Ｐゴシック" panose="020B0600070205080204" pitchFamily="34" charset="-128"/>
              </a:rPr>
              <a:t>Pytorch</a:t>
            </a:r>
            <a:r>
              <a:rPr lang="en-US" altLang="en-US" dirty="0">
                <a:ea typeface="ＭＳ Ｐゴシック" panose="020B0600070205080204" pitchFamily="34" charset="-128"/>
                <a:cs typeface="ＭＳ Ｐゴシック" panose="020B0600070205080204" pitchFamily="34" charset="-128"/>
              </a:rPr>
              <a:t>, </a:t>
            </a:r>
            <a:r>
              <a:rPr lang="en-US" altLang="en-US" dirty="0" err="1">
                <a:ea typeface="ＭＳ Ｐゴシック" panose="020B0600070205080204" pitchFamily="34" charset="-128"/>
                <a:cs typeface="ＭＳ Ｐゴシック" panose="020B0600070205080204" pitchFamily="34" charset="-128"/>
              </a:rPr>
              <a:t>Tensorflow</a:t>
            </a:r>
            <a:endParaRPr lang="en-US" altLang="en-US" dirty="0">
              <a:ea typeface="ＭＳ Ｐゴシック" panose="020B0600070205080204" pitchFamily="34" charset="-128"/>
              <a:cs typeface="ＭＳ Ｐゴシック" panose="020B0600070205080204" pitchFamily="34" charset="-128"/>
            </a:endParaRPr>
          </a:p>
          <a:p>
            <a:pPr marL="0" indent="0">
              <a:buNone/>
              <a:defRPr/>
            </a:pPr>
            <a:r>
              <a:rPr lang="en-US" altLang="en-US" dirty="0">
                <a:ea typeface="ＭＳ Ｐゴシック" panose="020B0600070205080204" pitchFamily="34" charset="-128"/>
                <a:cs typeface="ＭＳ Ｐゴシック" panose="020B0600070205080204" pitchFamily="34" charset="-128"/>
              </a:rPr>
              <a:t>Allows expression of the common types of parallelism within the domain</a:t>
            </a:r>
          </a:p>
          <a:p>
            <a:pPr marL="0" indent="0">
              <a:buNone/>
              <a:defRPr/>
            </a:pPr>
            <a:r>
              <a:rPr lang="en-US" altLang="en-US" sz="2400" dirty="0">
                <a:ea typeface="ＭＳ Ｐゴシック" panose="020B0600070205080204" pitchFamily="34" charset="-128"/>
                <a:cs typeface="ＭＳ Ｐゴシック" panose="020B0600070205080204" pitchFamily="34" charset="-128"/>
              </a:rPr>
              <a:t>-AI domain dominated by Large Matrix Operations:  </a:t>
            </a:r>
          </a:p>
          <a:p>
            <a:pPr marL="0" indent="0">
              <a:buNone/>
              <a:defRPr/>
            </a:pPr>
            <a:r>
              <a:rPr lang="en-US" altLang="en-US" sz="2400" dirty="0">
                <a:ea typeface="ＭＳ Ｐゴシック" panose="020B0600070205080204" pitchFamily="34" charset="-128"/>
                <a:cs typeface="ＭＳ Ｐゴシック" panose="020B0600070205080204" pitchFamily="34" charset="-128"/>
              </a:rPr>
              <a:t>		i.e., (SIMD) Data level Parallelism</a:t>
            </a:r>
          </a:p>
          <a:p>
            <a:pPr marL="0" indent="0">
              <a:buNone/>
              <a:defRPr/>
            </a:pPr>
            <a:endParaRPr lang="en-US" altLang="en-US" sz="2400" dirty="0">
              <a:ea typeface="ＭＳ Ｐゴシック" panose="020B0600070205080204" pitchFamily="34" charset="-128"/>
              <a:cs typeface="ＭＳ Ｐゴシック" panose="020B0600070205080204" pitchFamily="34" charset="-128"/>
            </a:endParaRPr>
          </a:p>
          <a:p>
            <a:pPr marL="0" indent="0">
              <a:buNone/>
              <a:defRPr/>
            </a:pPr>
            <a:r>
              <a:rPr lang="en-US" altLang="en-US" sz="2400" dirty="0">
                <a:ea typeface="ＭＳ Ｐゴシック" panose="020B0600070205080204" pitchFamily="34" charset="-128"/>
                <a:cs typeface="ＭＳ Ｐゴシック" panose="020B0600070205080204" pitchFamily="34" charset="-128"/>
              </a:rPr>
              <a:t>DSL’s are good at what they are targeting but are</a:t>
            </a:r>
          </a:p>
          <a:p>
            <a:pPr marL="0" indent="0">
              <a:buNone/>
              <a:defRPr/>
            </a:pPr>
            <a:r>
              <a:rPr lang="en-US" altLang="en-US" sz="2400" dirty="0">
                <a:ea typeface="ＭＳ Ｐゴシック" panose="020B0600070205080204" pitchFamily="34" charset="-128"/>
                <a:cs typeface="ＭＳ Ｐゴシック" panose="020B0600070205080204" pitchFamily="34" charset="-128"/>
              </a:rPr>
              <a:t>          not general purpose</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extLst>
      <p:ext uri="{BB962C8B-B14F-4D97-AF65-F5344CB8AC3E}">
        <p14:creationId xmlns:p14="http://schemas.microsoft.com/office/powerpoint/2010/main" val="1005592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33400" y="762000"/>
            <a:ext cx="8229600" cy="838200"/>
          </a:xfrm>
        </p:spPr>
        <p:txBody>
          <a:bodyPr/>
          <a:lstStyle/>
          <a:p>
            <a:r>
              <a:rPr lang="en-US" altLang="en-US" sz="3200" dirty="0">
                <a:ea typeface="ＭＳ Ｐゴシック" panose="020B0600070205080204" pitchFamily="34" charset="-128"/>
                <a:cs typeface="ＭＳ Ｐゴシック" panose="020B0600070205080204" pitchFamily="34" charset="-128"/>
              </a:rPr>
              <a:t>What is a Domain Specific Architecture ?</a:t>
            </a: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524000"/>
            <a:ext cx="7924800" cy="4572000"/>
          </a:xfrm>
        </p:spPr>
        <p:txBody>
          <a:bodyPr/>
          <a:lstStyle/>
          <a:p>
            <a:pPr marL="0" indent="0">
              <a:buNone/>
              <a:defRPr/>
            </a:pPr>
            <a:r>
              <a:rPr lang="en-US" altLang="en-US" dirty="0">
                <a:ea typeface="ＭＳ Ｐゴシック" panose="020B0600070205080204" pitchFamily="34" charset="-128"/>
                <a:cs typeface="ＭＳ Ｐゴシック" panose="020B0600070205080204" pitchFamily="34" charset="-128"/>
              </a:rPr>
              <a:t>Domain Specific Accelerators exploit four main techniques to get performance and efficiency:</a:t>
            </a:r>
          </a:p>
          <a:p>
            <a:pPr marL="514350" indent="-514350">
              <a:buAutoNum type="arabicPeriod"/>
              <a:defRPr/>
            </a:pPr>
            <a:r>
              <a:rPr lang="en-US" altLang="en-US" dirty="0">
                <a:ea typeface="ＭＳ Ｐゴシック" panose="020B0600070205080204" pitchFamily="34" charset="-128"/>
                <a:cs typeface="ＭＳ Ｐゴシック" panose="020B0600070205080204" pitchFamily="34" charset="-128"/>
              </a:rPr>
              <a:t>Data Specialization:  Specialized ops on domain specific data types.  Can do in one cycle what may take tens of cycles on GP computer.</a:t>
            </a:r>
          </a:p>
          <a:p>
            <a:pPr marL="514350" indent="-514350">
              <a:buAutoNum type="arabicPeriod"/>
              <a:defRPr/>
            </a:pPr>
            <a:r>
              <a:rPr lang="en-US" altLang="en-US" dirty="0">
                <a:ea typeface="ＭＳ Ｐゴシック" panose="020B0600070205080204" pitchFamily="34" charset="-128"/>
                <a:cs typeface="ＭＳ Ｐゴシック" panose="020B0600070205080204" pitchFamily="34" charset="-128"/>
              </a:rPr>
              <a:t>Exploit Parallelism: Match what is available in the application:  </a:t>
            </a:r>
          </a:p>
          <a:p>
            <a:pPr marL="914400" lvl="1" indent="-514350">
              <a:buAutoNum type="arabicPeriod"/>
              <a:defRPr/>
            </a:pPr>
            <a:r>
              <a:rPr lang="en-US" altLang="en-US" dirty="0">
                <a:ea typeface="ＭＳ Ｐゴシック" panose="020B0600070205080204" pitchFamily="34" charset="-128"/>
                <a:cs typeface="ＭＳ Ｐゴシック" panose="020B0600070205080204" pitchFamily="34" charset="-128"/>
              </a:rPr>
              <a:t>Locality of reference is key</a:t>
            </a:r>
          </a:p>
          <a:p>
            <a:pPr marL="914400" lvl="1" indent="-514350">
              <a:buAutoNum type="arabicPeriod"/>
              <a:defRPr/>
            </a:pPr>
            <a:r>
              <a:rPr lang="en-US" altLang="en-US" dirty="0">
                <a:ea typeface="ＭＳ Ｐゴシック" panose="020B0600070205080204" pitchFamily="34" charset="-128"/>
                <a:cs typeface="ＭＳ Ｐゴシック" panose="020B0600070205080204" pitchFamily="34" charset="-128"/>
              </a:rPr>
              <a:t>global memory references severely degrade performance</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extLst>
      <p:ext uri="{BB962C8B-B14F-4D97-AF65-F5344CB8AC3E}">
        <p14:creationId xmlns:p14="http://schemas.microsoft.com/office/powerpoint/2010/main" val="21691471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33400" y="762000"/>
            <a:ext cx="8229600" cy="838200"/>
          </a:xfrm>
        </p:spPr>
        <p:txBody>
          <a:bodyPr/>
          <a:lstStyle/>
          <a:p>
            <a:r>
              <a:rPr lang="en-US" altLang="en-US" sz="3200" dirty="0">
                <a:ea typeface="ＭＳ Ｐゴシック" panose="020B0600070205080204" pitchFamily="34" charset="-128"/>
                <a:cs typeface="ＭＳ Ｐゴシック" panose="020B0600070205080204" pitchFamily="34" charset="-128"/>
              </a:rPr>
              <a:t>What is a Domain Specific Architecture ?</a:t>
            </a: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295400"/>
            <a:ext cx="7924800" cy="4572000"/>
          </a:xfrm>
        </p:spPr>
        <p:txBody>
          <a:bodyPr/>
          <a:lstStyle/>
          <a:p>
            <a:pPr marL="0" indent="0">
              <a:buNone/>
              <a:defRPr/>
            </a:pPr>
            <a:r>
              <a:rPr lang="en-US" altLang="en-US" dirty="0">
                <a:ea typeface="ＭＳ Ｐゴシック" panose="020B0600070205080204" pitchFamily="34" charset="-128"/>
                <a:cs typeface="ＭＳ Ｐゴシック" panose="020B0600070205080204" pitchFamily="34" charset="-128"/>
              </a:rPr>
              <a:t>3.  Local and Optimized Memory: Store highly used data structures in small high bandwidth memories close to processing units.</a:t>
            </a:r>
          </a:p>
          <a:p>
            <a:pPr marL="0" indent="0">
              <a:buNone/>
              <a:defRPr/>
            </a:pPr>
            <a:r>
              <a:rPr lang="en-US" altLang="en-US" dirty="0">
                <a:ea typeface="ＭＳ Ｐゴシック" panose="020B0600070205080204" pitchFamily="34" charset="-128"/>
                <a:cs typeface="ＭＳ Ｐゴシック" panose="020B0600070205080204" pitchFamily="34" charset="-128"/>
              </a:rPr>
              <a:t>	</a:t>
            </a:r>
            <a:r>
              <a:rPr lang="en-US" altLang="en-US" sz="2400" i="1" dirty="0">
                <a:ea typeface="ＭＳ Ｐゴシック" panose="020B0600070205080204" pitchFamily="34" charset="-128"/>
                <a:cs typeface="ＭＳ Ｐゴシック" panose="020B0600070205080204" pitchFamily="34" charset="-128"/>
              </a:rPr>
              <a:t>Increase Energy Efficiency</a:t>
            </a:r>
          </a:p>
          <a:p>
            <a:pPr marL="0" indent="0">
              <a:buNone/>
              <a:defRPr/>
            </a:pPr>
            <a:r>
              <a:rPr lang="en-US" altLang="en-US" sz="2400" i="1" dirty="0">
                <a:ea typeface="ＭＳ Ｐゴシック" panose="020B0600070205080204" pitchFamily="34" charset="-128"/>
                <a:cs typeface="ＭＳ Ｐゴシック" panose="020B0600070205080204" pitchFamily="34" charset="-128"/>
              </a:rPr>
              <a:t>	Decrease Processing Latency</a:t>
            </a:r>
          </a:p>
          <a:p>
            <a:pPr marL="0" indent="0">
              <a:buNone/>
              <a:defRPr/>
            </a:pPr>
            <a:r>
              <a:rPr lang="en-US" altLang="en-US" dirty="0">
                <a:ea typeface="ＭＳ Ｐゴシック" panose="020B0600070205080204" pitchFamily="34" charset="-128"/>
                <a:cs typeface="ＭＳ Ｐゴシック" panose="020B0600070205080204" pitchFamily="34" charset="-128"/>
              </a:rPr>
              <a:t>4. Reduced Overhead: Specialized hardware and Languages decrease overhead of program interpretation and reduces #instructions. </a:t>
            </a:r>
          </a:p>
          <a:p>
            <a:pPr marL="0" indent="0">
              <a:buNone/>
              <a:defRPr/>
            </a:pPr>
            <a:r>
              <a:rPr lang="en-US" altLang="en-US" dirty="0">
                <a:ea typeface="ＭＳ Ｐゴシック" panose="020B0600070205080204" pitchFamily="34" charset="-128"/>
                <a:cs typeface="ＭＳ Ｐゴシック" panose="020B0600070205080204" pitchFamily="34" charset="-128"/>
              </a:rPr>
              <a:t>	</a:t>
            </a:r>
            <a:r>
              <a:rPr lang="en-US" altLang="en-US" sz="2400" i="1" dirty="0">
                <a:ea typeface="ＭＳ Ｐゴシック" panose="020B0600070205080204" pitchFamily="34" charset="-128"/>
                <a:cs typeface="ＭＳ Ｐゴシック" panose="020B0600070205080204" pitchFamily="34" charset="-128"/>
              </a:rPr>
              <a:t>GP Proc expends ~90% of energy on overhead: </a:t>
            </a:r>
          </a:p>
          <a:p>
            <a:pPr marL="0" indent="0">
              <a:buNone/>
              <a:defRPr/>
            </a:pPr>
            <a:r>
              <a:rPr lang="en-US" altLang="en-US" sz="2400" i="1" dirty="0">
                <a:ea typeface="ＭＳ Ｐゴシック" panose="020B0600070205080204" pitchFamily="34" charset="-128"/>
                <a:cs typeface="ＭＳ Ｐゴシック" panose="020B0600070205080204" pitchFamily="34" charset="-128"/>
              </a:rPr>
              <a:t>	&lt;IF, ID, Data Supply, control&gt; </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extLst>
      <p:ext uri="{BB962C8B-B14F-4D97-AF65-F5344CB8AC3E}">
        <p14:creationId xmlns:p14="http://schemas.microsoft.com/office/powerpoint/2010/main" val="37131082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838200" y="644417"/>
            <a:ext cx="8229600" cy="838200"/>
          </a:xfrm>
        </p:spPr>
        <p:txBody>
          <a:bodyPr/>
          <a:lstStyle/>
          <a:p>
            <a:r>
              <a:rPr lang="en-US" altLang="en-US" sz="3200" dirty="0">
                <a:ea typeface="ＭＳ Ｐゴシック" panose="020B0600070205080204" pitchFamily="34" charset="-128"/>
                <a:cs typeface="ＭＳ Ｐゴシック" panose="020B0600070205080204" pitchFamily="34" charset="-128"/>
              </a:rPr>
              <a:t>How Important is Memory Design?</a:t>
            </a: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295400"/>
            <a:ext cx="7924800" cy="685800"/>
          </a:xfrm>
        </p:spPr>
        <p:txBody>
          <a:bodyPr/>
          <a:lstStyle/>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pic>
        <p:nvPicPr>
          <p:cNvPr id="1025" name="Picture 1" descr="page1image41141680">
            <a:extLst>
              <a:ext uri="{FF2B5EF4-FFF2-40B4-BE49-F238E27FC236}">
                <a16:creationId xmlns:a16="http://schemas.microsoft.com/office/drawing/2014/main" id="{1A0671AE-8DA5-16D0-C5E0-AF1722F1C3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6679" y="1409701"/>
            <a:ext cx="8136321" cy="34671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DEB7DD8A-2B23-0031-329D-15390F20CF26}"/>
              </a:ext>
            </a:extLst>
          </p:cNvPr>
          <p:cNvSpPr txBox="1"/>
          <p:nvPr/>
        </p:nvSpPr>
        <p:spPr>
          <a:xfrm>
            <a:off x="762000" y="5181600"/>
            <a:ext cx="7614585" cy="830997"/>
          </a:xfrm>
          <a:prstGeom prst="rect">
            <a:avLst/>
          </a:prstGeom>
          <a:noFill/>
        </p:spPr>
        <p:txBody>
          <a:bodyPr wrap="none" rtlCol="0">
            <a:spAutoFit/>
          </a:bodyPr>
          <a:lstStyle/>
          <a:p>
            <a:r>
              <a:rPr lang="en-US" dirty="0"/>
              <a:t>Area and Power of most accelerators dominated by Memory</a:t>
            </a:r>
          </a:p>
          <a:p>
            <a:r>
              <a:rPr lang="en-US" dirty="0"/>
              <a:t>	-Performance often memory limited</a:t>
            </a:r>
          </a:p>
        </p:txBody>
      </p:sp>
    </p:spTree>
    <p:extLst>
      <p:ext uri="{BB962C8B-B14F-4D97-AF65-F5344CB8AC3E}">
        <p14:creationId xmlns:p14="http://schemas.microsoft.com/office/powerpoint/2010/main" val="14038290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838200" y="644417"/>
            <a:ext cx="8229600" cy="838200"/>
          </a:xfrm>
        </p:spPr>
        <p:txBody>
          <a:bodyPr/>
          <a:lstStyle/>
          <a:p>
            <a:r>
              <a:rPr lang="en-US" altLang="en-US" sz="3200" dirty="0">
                <a:ea typeface="ＭＳ Ｐゴシック" panose="020B0600070205080204" pitchFamily="34" charset="-128"/>
                <a:cs typeface="ＭＳ Ｐゴシック" panose="020B0600070205080204" pitchFamily="34" charset="-128"/>
              </a:rPr>
              <a:t>Accelerator Costs</a:t>
            </a: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295400"/>
            <a:ext cx="7924800" cy="685800"/>
          </a:xfrm>
        </p:spPr>
        <p:txBody>
          <a:bodyPr/>
          <a:lstStyle/>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pic>
        <p:nvPicPr>
          <p:cNvPr id="3074" name="Picture 2">
            <a:hlinkClick r:id="rId2"/>
            <a:extLst>
              <a:ext uri="{FF2B5EF4-FFF2-40B4-BE49-F238E27FC236}">
                <a16:creationId xmlns:a16="http://schemas.microsoft.com/office/drawing/2014/main" id="{61724499-9C27-82A3-6849-4C1FD7ACF4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868100" y="-411163"/>
            <a:ext cx="1193800" cy="2159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0BE8851E-22C8-F36D-D9D5-251D4A277856}"/>
              </a:ext>
            </a:extLst>
          </p:cNvPr>
          <p:cNvGraphicFramePr>
            <a:graphicFrameLocks noGrp="1"/>
          </p:cNvGraphicFramePr>
          <p:nvPr>
            <p:extLst>
              <p:ext uri="{D42A27DB-BD31-4B8C-83A1-F6EECF244321}">
                <p14:modId xmlns:p14="http://schemas.microsoft.com/office/powerpoint/2010/main" val="4062486656"/>
              </p:ext>
            </p:extLst>
          </p:nvPr>
        </p:nvGraphicFramePr>
        <p:xfrm>
          <a:off x="838200" y="1638300"/>
          <a:ext cx="7467600" cy="2590800"/>
        </p:xfrm>
        <a:graphic>
          <a:graphicData uri="http://schemas.openxmlformats.org/drawingml/2006/table">
            <a:tbl>
              <a:tblPr firstRow="1" bandRow="1">
                <a:tableStyleId>{5C22544A-7EE6-4342-B048-85BDC9FD1C3A}</a:tableStyleId>
              </a:tblPr>
              <a:tblGrid>
                <a:gridCol w="3429000">
                  <a:extLst>
                    <a:ext uri="{9D8B030D-6E8A-4147-A177-3AD203B41FA5}">
                      <a16:colId xmlns:a16="http://schemas.microsoft.com/office/drawing/2014/main" val="3765409587"/>
                    </a:ext>
                  </a:extLst>
                </a:gridCol>
                <a:gridCol w="1905000">
                  <a:extLst>
                    <a:ext uri="{9D8B030D-6E8A-4147-A177-3AD203B41FA5}">
                      <a16:colId xmlns:a16="http://schemas.microsoft.com/office/drawing/2014/main" val="3773516196"/>
                    </a:ext>
                  </a:extLst>
                </a:gridCol>
                <a:gridCol w="2133600">
                  <a:extLst>
                    <a:ext uri="{9D8B030D-6E8A-4147-A177-3AD203B41FA5}">
                      <a16:colId xmlns:a16="http://schemas.microsoft.com/office/drawing/2014/main" val="2927332405"/>
                    </a:ext>
                  </a:extLst>
                </a:gridCol>
              </a:tblGrid>
              <a:tr h="0">
                <a:tc>
                  <a:txBody>
                    <a:bodyPr/>
                    <a:lstStyle/>
                    <a:p>
                      <a:r>
                        <a:rPr lang="en-US" dirty="0"/>
                        <a:t>Op</a:t>
                      </a:r>
                    </a:p>
                  </a:txBody>
                  <a:tcPr/>
                </a:tc>
                <a:tc>
                  <a:txBody>
                    <a:bodyPr/>
                    <a:lstStyle/>
                    <a:p>
                      <a:r>
                        <a:rPr lang="en-US" dirty="0"/>
                        <a:t>Energy</a:t>
                      </a:r>
                    </a:p>
                  </a:txBody>
                  <a:tcPr/>
                </a:tc>
                <a:tc>
                  <a:txBody>
                    <a:bodyPr/>
                    <a:lstStyle/>
                    <a:p>
                      <a:r>
                        <a:rPr lang="en-US" dirty="0"/>
                        <a:t>Area</a:t>
                      </a:r>
                    </a:p>
                  </a:txBody>
                  <a:tcPr/>
                </a:tc>
                <a:extLst>
                  <a:ext uri="{0D108BD9-81ED-4DB2-BD59-A6C34878D82A}">
                    <a16:rowId xmlns:a16="http://schemas.microsoft.com/office/drawing/2014/main" val="415029776"/>
                  </a:ext>
                </a:extLst>
              </a:tr>
              <a:tr h="370840">
                <a:tc>
                  <a:txBody>
                    <a:bodyPr/>
                    <a:lstStyle/>
                    <a:p>
                      <a:r>
                        <a:rPr lang="en-US" dirty="0"/>
                        <a:t>8-bit Add</a:t>
                      </a:r>
                    </a:p>
                  </a:txBody>
                  <a:tcPr/>
                </a:tc>
                <a:tc>
                  <a:txBody>
                    <a:bodyPr/>
                    <a:lstStyle/>
                    <a:p>
                      <a:r>
                        <a:rPr lang="en-US" dirty="0"/>
                        <a:t>10 </a:t>
                      </a:r>
                      <a:r>
                        <a:rPr lang="en-US" dirty="0" err="1"/>
                        <a:t>fJ</a:t>
                      </a:r>
                      <a:endParaRPr lang="en-US" dirty="0"/>
                    </a:p>
                  </a:txBody>
                  <a:tcPr/>
                </a:tc>
                <a:tc>
                  <a:txBody>
                    <a:bodyPr/>
                    <a:lstStyle/>
                    <a:p>
                      <a:r>
                        <a:rPr lang="en-US" dirty="0"/>
                        <a:t>4 um</a:t>
                      </a:r>
                      <a:r>
                        <a:rPr lang="en-US" baseline="30000" dirty="0"/>
                        <a:t> 2</a:t>
                      </a:r>
                    </a:p>
                  </a:txBody>
                  <a:tcPr/>
                </a:tc>
                <a:extLst>
                  <a:ext uri="{0D108BD9-81ED-4DB2-BD59-A6C34878D82A}">
                    <a16:rowId xmlns:a16="http://schemas.microsoft.com/office/drawing/2014/main" val="2454058773"/>
                  </a:ext>
                </a:extLst>
              </a:tr>
              <a:tr h="370840">
                <a:tc>
                  <a:txBody>
                    <a:bodyPr/>
                    <a:lstStyle/>
                    <a:p>
                      <a:r>
                        <a:rPr lang="en-US" dirty="0"/>
                        <a:t>Small (8 Kbyte)  SRAM Local</a:t>
                      </a:r>
                    </a:p>
                  </a:txBody>
                  <a:tcPr/>
                </a:tc>
                <a:tc>
                  <a:txBody>
                    <a:bodyPr/>
                    <a:lstStyle/>
                    <a:p>
                      <a:r>
                        <a:rPr lang="en-US" dirty="0"/>
                        <a:t>50 </a:t>
                      </a:r>
                      <a:r>
                        <a:rPr lang="en-US" dirty="0" err="1"/>
                        <a:t>fJ</a:t>
                      </a:r>
                      <a:r>
                        <a:rPr lang="en-US" dirty="0"/>
                        <a:t>/bit</a:t>
                      </a:r>
                    </a:p>
                  </a:txBody>
                  <a:tcPr/>
                </a:tc>
                <a:tc>
                  <a:txBody>
                    <a:bodyPr/>
                    <a:lstStyle/>
                    <a:p>
                      <a:r>
                        <a:rPr lang="en-US" dirty="0"/>
                        <a:t>.013 um</a:t>
                      </a:r>
                      <a:r>
                        <a:rPr lang="en-US" baseline="30000" dirty="0"/>
                        <a:t> 2</a:t>
                      </a:r>
                      <a:r>
                        <a:rPr lang="en-US" dirty="0"/>
                        <a:t>  per bit</a:t>
                      </a:r>
                    </a:p>
                  </a:txBody>
                  <a:tcPr/>
                </a:tc>
                <a:extLst>
                  <a:ext uri="{0D108BD9-81ED-4DB2-BD59-A6C34878D82A}">
                    <a16:rowId xmlns:a16="http://schemas.microsoft.com/office/drawing/2014/main" val="1937706454"/>
                  </a:ext>
                </a:extLst>
              </a:tr>
              <a:tr h="370840">
                <a:tc>
                  <a:txBody>
                    <a:bodyPr/>
                    <a:lstStyle/>
                    <a:p>
                      <a:r>
                        <a:rPr lang="en-US" dirty="0"/>
                        <a:t>Larger (100 MB) SRAM Local</a:t>
                      </a:r>
                    </a:p>
                  </a:txBody>
                  <a:tcPr/>
                </a:tc>
                <a:tc>
                  <a:txBody>
                    <a:bodyPr/>
                    <a:lstStyle/>
                    <a:p>
                      <a:r>
                        <a:rPr lang="en-US" dirty="0"/>
                        <a:t>.7 </a:t>
                      </a:r>
                      <a:r>
                        <a:rPr lang="en-US" dirty="0" err="1"/>
                        <a:t>pJ</a:t>
                      </a:r>
                      <a:r>
                        <a:rPr lang="en-US" dirty="0"/>
                        <a:t>/bit</a:t>
                      </a:r>
                    </a:p>
                  </a:txBody>
                  <a:tcPr/>
                </a:tc>
                <a:tc>
                  <a:txBody>
                    <a:bodyPr/>
                    <a:lstStyle/>
                    <a:p>
                      <a:endParaRPr lang="en-US" dirty="0"/>
                    </a:p>
                  </a:txBody>
                  <a:tcPr/>
                </a:tc>
                <a:extLst>
                  <a:ext uri="{0D108BD9-81ED-4DB2-BD59-A6C34878D82A}">
                    <a16:rowId xmlns:a16="http://schemas.microsoft.com/office/drawing/2014/main" val="1626429302"/>
                  </a:ext>
                </a:extLst>
              </a:tr>
              <a:tr h="370840">
                <a:tc>
                  <a:txBody>
                    <a:bodyPr/>
                    <a:lstStyle/>
                    <a:p>
                      <a:r>
                        <a:rPr lang="en-US" dirty="0"/>
                        <a:t>Global memory</a:t>
                      </a:r>
                    </a:p>
                  </a:txBody>
                  <a:tcPr/>
                </a:tc>
                <a:tc>
                  <a:txBody>
                    <a:bodyPr/>
                    <a:lstStyle/>
                    <a:p>
                      <a:r>
                        <a:rPr lang="en-US" dirty="0"/>
                        <a:t>4 </a:t>
                      </a:r>
                      <a:r>
                        <a:rPr lang="en-US" dirty="0" err="1"/>
                        <a:t>pJ</a:t>
                      </a:r>
                      <a:r>
                        <a:rPr lang="en-US" dirty="0"/>
                        <a:t>/bit</a:t>
                      </a:r>
                    </a:p>
                  </a:txBody>
                  <a:tcPr/>
                </a:tc>
                <a:tc>
                  <a:txBody>
                    <a:bodyPr/>
                    <a:lstStyle/>
                    <a:p>
                      <a:endParaRPr lang="en-US" dirty="0"/>
                    </a:p>
                  </a:txBody>
                  <a:tcPr/>
                </a:tc>
                <a:extLst>
                  <a:ext uri="{0D108BD9-81ED-4DB2-BD59-A6C34878D82A}">
                    <a16:rowId xmlns:a16="http://schemas.microsoft.com/office/drawing/2014/main" val="2826088351"/>
                  </a:ext>
                </a:extLst>
              </a:tr>
              <a:tr h="370840">
                <a:tc>
                  <a:txBody>
                    <a:bodyPr/>
                    <a:lstStyle/>
                    <a:p>
                      <a:r>
                        <a:rPr lang="en-US" dirty="0"/>
                        <a:t>Local Comm (on Chip)</a:t>
                      </a:r>
                    </a:p>
                  </a:txBody>
                  <a:tcPr/>
                </a:tc>
                <a:tc>
                  <a:txBody>
                    <a:bodyPr/>
                    <a:lstStyle/>
                    <a:p>
                      <a:r>
                        <a:rPr lang="en-US" dirty="0"/>
                        <a:t>100fJ/bit-mm</a:t>
                      </a:r>
                    </a:p>
                  </a:txBody>
                  <a:tcPr/>
                </a:tc>
                <a:tc>
                  <a:txBody>
                    <a:bodyPr/>
                    <a:lstStyle/>
                    <a:p>
                      <a:r>
                        <a:rPr lang="en-US" dirty="0"/>
                        <a:t>Linear Increase</a:t>
                      </a:r>
                    </a:p>
                  </a:txBody>
                  <a:tcPr/>
                </a:tc>
                <a:extLst>
                  <a:ext uri="{0D108BD9-81ED-4DB2-BD59-A6C34878D82A}">
                    <a16:rowId xmlns:a16="http://schemas.microsoft.com/office/drawing/2014/main" val="1037310950"/>
                  </a:ext>
                </a:extLst>
              </a:tr>
              <a:tr h="370840">
                <a:tc>
                  <a:txBody>
                    <a:bodyPr/>
                    <a:lstStyle/>
                    <a:p>
                      <a:r>
                        <a:rPr lang="en-US" dirty="0"/>
                        <a:t>Global Comm (off Chip)</a:t>
                      </a:r>
                    </a:p>
                  </a:txBody>
                  <a:tcPr/>
                </a:tc>
                <a:tc>
                  <a:txBody>
                    <a:bodyPr/>
                    <a:lstStyle/>
                    <a:p>
                      <a:r>
                        <a:rPr lang="en-US" dirty="0"/>
                        <a:t>10 </a:t>
                      </a:r>
                      <a:r>
                        <a:rPr lang="en-US" dirty="0" err="1"/>
                        <a:t>pJ</a:t>
                      </a:r>
                      <a:r>
                        <a:rPr lang="en-US" dirty="0"/>
                        <a:t>/bit</a:t>
                      </a:r>
                    </a:p>
                  </a:txBody>
                  <a:tcPr/>
                </a:tc>
                <a:tc>
                  <a:txBody>
                    <a:bodyPr/>
                    <a:lstStyle/>
                    <a:p>
                      <a:endParaRPr lang="en-US" dirty="0"/>
                    </a:p>
                  </a:txBody>
                  <a:tcPr/>
                </a:tc>
                <a:extLst>
                  <a:ext uri="{0D108BD9-81ED-4DB2-BD59-A6C34878D82A}">
                    <a16:rowId xmlns:a16="http://schemas.microsoft.com/office/drawing/2014/main" val="3929876145"/>
                  </a:ext>
                </a:extLst>
              </a:tr>
            </a:tbl>
          </a:graphicData>
        </a:graphic>
      </p:graphicFrame>
      <p:sp>
        <p:nvSpPr>
          <p:cNvPr id="2" name="TextBox 1">
            <a:extLst>
              <a:ext uri="{FF2B5EF4-FFF2-40B4-BE49-F238E27FC236}">
                <a16:creationId xmlns:a16="http://schemas.microsoft.com/office/drawing/2014/main" id="{71EB7FC4-28B6-9551-22F7-4B6F440B659B}"/>
              </a:ext>
            </a:extLst>
          </p:cNvPr>
          <p:cNvSpPr txBox="1"/>
          <p:nvPr/>
        </p:nvSpPr>
        <p:spPr>
          <a:xfrm>
            <a:off x="1481959" y="5055476"/>
            <a:ext cx="1887055" cy="461665"/>
          </a:xfrm>
          <a:prstGeom prst="rect">
            <a:avLst/>
          </a:prstGeom>
          <a:noFill/>
        </p:spPr>
        <p:txBody>
          <a:bodyPr wrap="none" rtlCol="0">
            <a:spAutoFit/>
          </a:bodyPr>
          <a:lstStyle/>
          <a:p>
            <a:r>
              <a:rPr lang="en-US" dirty="0" err="1"/>
              <a:t>femto</a:t>
            </a:r>
            <a:r>
              <a:rPr lang="en-US" dirty="0"/>
              <a:t>  = 10</a:t>
            </a:r>
            <a:r>
              <a:rPr lang="en-US" baseline="30000" dirty="0"/>
              <a:t>-15</a:t>
            </a:r>
          </a:p>
        </p:txBody>
      </p:sp>
      <p:sp>
        <p:nvSpPr>
          <p:cNvPr id="3" name="TextBox 2">
            <a:extLst>
              <a:ext uri="{FF2B5EF4-FFF2-40B4-BE49-F238E27FC236}">
                <a16:creationId xmlns:a16="http://schemas.microsoft.com/office/drawing/2014/main" id="{6AD3987A-8B31-1B84-1AA5-203AB36FD9E1}"/>
              </a:ext>
            </a:extLst>
          </p:cNvPr>
          <p:cNvSpPr txBox="1"/>
          <p:nvPr/>
        </p:nvSpPr>
        <p:spPr>
          <a:xfrm>
            <a:off x="1473015" y="5558135"/>
            <a:ext cx="1930337" cy="461665"/>
          </a:xfrm>
          <a:prstGeom prst="rect">
            <a:avLst/>
          </a:prstGeom>
          <a:noFill/>
        </p:spPr>
        <p:txBody>
          <a:bodyPr wrap="none" rtlCol="0">
            <a:spAutoFit/>
          </a:bodyPr>
          <a:lstStyle/>
          <a:p>
            <a:r>
              <a:rPr lang="en-US" dirty="0" err="1"/>
              <a:t>pico</a:t>
            </a:r>
            <a:r>
              <a:rPr lang="en-US" dirty="0"/>
              <a:t>     = 10</a:t>
            </a:r>
            <a:r>
              <a:rPr lang="en-US" baseline="30000" dirty="0"/>
              <a:t>-12</a:t>
            </a:r>
          </a:p>
        </p:txBody>
      </p:sp>
    </p:spTree>
    <p:extLst>
      <p:ext uri="{BB962C8B-B14F-4D97-AF65-F5344CB8AC3E}">
        <p14:creationId xmlns:p14="http://schemas.microsoft.com/office/powerpoint/2010/main" val="16220564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22890" y="685800"/>
            <a:ext cx="8229600" cy="838200"/>
          </a:xfrm>
        </p:spPr>
        <p:txBody>
          <a:bodyPr/>
          <a:lstStyle/>
          <a:p>
            <a:pPr algn="ctr"/>
            <a:br>
              <a:rPr lang="en-US" altLang="en-US" sz="4000" dirty="0">
                <a:ea typeface="ＭＳ Ｐゴシック" panose="020B0600070205080204" pitchFamily="34" charset="-128"/>
                <a:cs typeface="ＭＳ Ｐゴシック" panose="020B0600070205080204" pitchFamily="34" charset="-128"/>
              </a:rPr>
            </a:br>
            <a:r>
              <a:rPr lang="en-US" altLang="en-US" sz="4000" dirty="0">
                <a:ea typeface="ＭＳ Ｐゴシック" panose="020B0600070205080204" pitchFamily="34" charset="-128"/>
                <a:cs typeface="ＭＳ Ｐゴシック" panose="020B0600070205080204" pitchFamily="34" charset="-128"/>
              </a:rPr>
              <a:t>The Big Three:</a:t>
            </a:r>
            <a:br>
              <a:rPr lang="en-US" altLang="en-US" sz="2400" dirty="0">
                <a:ea typeface="ＭＳ Ｐゴシック" panose="020B0600070205080204" pitchFamily="34" charset="-128"/>
                <a:cs typeface="ＭＳ Ｐゴシック" panose="020B0600070205080204" pitchFamily="34" charset="-128"/>
              </a:rPr>
            </a:b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295400"/>
            <a:ext cx="8153400" cy="4572000"/>
          </a:xfrm>
        </p:spPr>
        <p:txBody>
          <a:bodyPr/>
          <a:lstStyle/>
          <a:p>
            <a:pPr>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Graphics Processing Units (GPUs)</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NVIDIA ~88%. (~98% of data center market)</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AMD	~12%</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Intel	~0%</a:t>
            </a:r>
          </a:p>
          <a:p>
            <a:pPr>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Field Programmable Gate Arrays (FPGAs)</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Xilinx -&gt; AMD</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Altera -&gt; Intel -&gt; Altera (split being completed)</a:t>
            </a:r>
          </a:p>
          <a:p>
            <a:pPr>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Application-Specific Integrated Circuits (ASICs)</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Google: Tensor Processing Unit (TPU)</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Microsoft: Athena this year</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Amazon Web Services: </a:t>
            </a:r>
          </a:p>
          <a:p>
            <a:pPr lvl="1">
              <a:buFont typeface="Arial" panose="020B0604020202020204" pitchFamily="34" charset="0"/>
              <a:buChar char="•"/>
              <a:defRPr/>
            </a:pPr>
            <a:r>
              <a:rPr lang="en-US" altLang="en-US" dirty="0">
                <a:ea typeface="ＭＳ Ｐゴシック" panose="020B0600070205080204" pitchFamily="34" charset="-128"/>
                <a:cs typeface="ＭＳ Ｐゴシック" panose="020B0600070205080204" pitchFamily="34" charset="-128"/>
              </a:rPr>
              <a:t>Some Interesting Startups: </a:t>
            </a:r>
            <a:r>
              <a:rPr lang="en-US" altLang="en-US" dirty="0" err="1">
                <a:ea typeface="ＭＳ Ｐゴシック" panose="020B0600070205080204" pitchFamily="34" charset="-128"/>
                <a:cs typeface="ＭＳ Ｐゴシック" panose="020B0600070205080204" pitchFamily="34" charset="-128"/>
              </a:rPr>
              <a:t>Cerebras</a:t>
            </a:r>
            <a:r>
              <a:rPr lang="en-US" altLang="en-US" dirty="0">
                <a:ea typeface="ＭＳ Ｐゴシック" panose="020B0600070205080204" pitchFamily="34" charset="-128"/>
                <a:cs typeface="ＭＳ Ｐゴシック" panose="020B0600070205080204" pitchFamily="34" charset="-128"/>
              </a:rPr>
              <a:t>, </a:t>
            </a:r>
            <a:r>
              <a:rPr lang="en-US" altLang="en-US" dirty="0" err="1">
                <a:ea typeface="ＭＳ Ｐゴシック" panose="020B0600070205080204" pitchFamily="34" charset="-128"/>
                <a:cs typeface="ＭＳ Ｐゴシック" panose="020B0600070205080204" pitchFamily="34" charset="-128"/>
              </a:rPr>
              <a:t>Groq</a:t>
            </a:r>
            <a:endParaRPr lang="en-US" altLang="en-US" dirty="0">
              <a:ea typeface="ＭＳ Ｐゴシック" panose="020B0600070205080204" pitchFamily="34" charset="-128"/>
              <a:cs typeface="ＭＳ Ｐゴシック" panose="020B0600070205080204" pitchFamily="34" charset="-128"/>
            </a:endParaRPr>
          </a:p>
          <a:p>
            <a:pPr>
              <a:buFont typeface="Arial" panose="020B0604020202020204" pitchFamily="34" charset="0"/>
              <a:buChar char="•"/>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extLst>
      <p:ext uri="{BB962C8B-B14F-4D97-AF65-F5344CB8AC3E}">
        <p14:creationId xmlns:p14="http://schemas.microsoft.com/office/powerpoint/2010/main" val="3238124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22890" y="685800"/>
            <a:ext cx="8229600" cy="838200"/>
          </a:xfrm>
        </p:spPr>
        <p:txBody>
          <a:bodyPr/>
          <a:lstStyle/>
          <a:p>
            <a:pPr algn="ctr"/>
            <a:br>
              <a:rPr lang="en-US" altLang="en-US" sz="4000" dirty="0">
                <a:ea typeface="ＭＳ Ｐゴシック" panose="020B0600070205080204" pitchFamily="34" charset="-128"/>
                <a:cs typeface="ＭＳ Ｐゴシック" panose="020B0600070205080204" pitchFamily="34" charset="-128"/>
              </a:rPr>
            </a:br>
            <a:r>
              <a:rPr lang="en-US" altLang="en-US" sz="4000" dirty="0">
                <a:ea typeface="ＭＳ Ｐゴシック" panose="020B0600070205080204" pitchFamily="34" charset="-128"/>
                <a:cs typeface="ＭＳ Ｐゴシック" panose="020B0600070205080204" pitchFamily="34" charset="-128"/>
              </a:rPr>
              <a:t>What will we study ?</a:t>
            </a:r>
            <a:br>
              <a:rPr lang="en-US" altLang="en-US" sz="2400" dirty="0">
                <a:ea typeface="ＭＳ Ｐゴシック" panose="020B0600070205080204" pitchFamily="34" charset="-128"/>
                <a:cs typeface="ＭＳ Ｐゴシック" panose="020B0600070205080204" pitchFamily="34" charset="-128"/>
              </a:rPr>
            </a:b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609600" y="1295400"/>
            <a:ext cx="8153400" cy="4572000"/>
          </a:xfrm>
        </p:spPr>
        <p:txBody>
          <a:bodyPr/>
          <a:lstStyle/>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
        <p:nvSpPr>
          <p:cNvPr id="3" name="TextBox 2">
            <a:extLst>
              <a:ext uri="{FF2B5EF4-FFF2-40B4-BE49-F238E27FC236}">
                <a16:creationId xmlns:a16="http://schemas.microsoft.com/office/drawing/2014/main" id="{46535AA9-EE81-596C-03A2-0D074917CF02}"/>
              </a:ext>
            </a:extLst>
          </p:cNvPr>
          <p:cNvSpPr txBox="1"/>
          <p:nvPr/>
        </p:nvSpPr>
        <p:spPr>
          <a:xfrm>
            <a:off x="914400" y="1524000"/>
            <a:ext cx="7443704" cy="4524315"/>
          </a:xfrm>
          <a:prstGeom prst="rect">
            <a:avLst/>
          </a:prstGeom>
          <a:noFill/>
        </p:spPr>
        <p:txBody>
          <a:bodyPr wrap="none" rtlCol="0">
            <a:spAutoFit/>
          </a:bodyPr>
          <a:lstStyle/>
          <a:p>
            <a:r>
              <a:rPr lang="en-US" dirty="0"/>
              <a:t>Review of key concepts and technology trends</a:t>
            </a:r>
          </a:p>
          <a:p>
            <a:r>
              <a:rPr lang="en-US" dirty="0"/>
              <a:t>-Generalization versus Specialization</a:t>
            </a:r>
          </a:p>
          <a:p>
            <a:r>
              <a:rPr lang="en-US" dirty="0"/>
              <a:t>-Hardware design/challenges for AI and Machine Learning</a:t>
            </a:r>
          </a:p>
          <a:p>
            <a:r>
              <a:rPr lang="en-US" dirty="0"/>
              <a:t>-Architectures for Data Level Parallelism</a:t>
            </a:r>
          </a:p>
          <a:p>
            <a:r>
              <a:rPr lang="en-US" dirty="0"/>
              <a:t>	SIMD Array Processors</a:t>
            </a:r>
          </a:p>
          <a:p>
            <a:r>
              <a:rPr lang="en-US" dirty="0"/>
              <a:t>	Systolic Arrays</a:t>
            </a:r>
          </a:p>
          <a:p>
            <a:r>
              <a:rPr lang="en-US" dirty="0"/>
              <a:t>-Architecture Approaches for ML/Big Data</a:t>
            </a:r>
          </a:p>
          <a:p>
            <a:r>
              <a:rPr lang="en-US" dirty="0"/>
              <a:t>	Processor near/in Memory architectures</a:t>
            </a:r>
          </a:p>
          <a:p>
            <a:endParaRPr lang="en-US" dirty="0"/>
          </a:p>
          <a:p>
            <a:r>
              <a:rPr lang="en-US" dirty="0"/>
              <a:t>-Case Studies</a:t>
            </a:r>
          </a:p>
          <a:p>
            <a:endParaRPr lang="en-US" dirty="0"/>
          </a:p>
          <a:p>
            <a:r>
              <a:rPr lang="en-US" dirty="0"/>
              <a:t>-Crystal Ball gazing:</a:t>
            </a:r>
          </a:p>
        </p:txBody>
      </p:sp>
    </p:spTree>
    <p:extLst>
      <p:ext uri="{BB962C8B-B14F-4D97-AF65-F5344CB8AC3E}">
        <p14:creationId xmlns:p14="http://schemas.microsoft.com/office/powerpoint/2010/main" val="12237180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22890" y="685800"/>
            <a:ext cx="8229600" cy="838200"/>
          </a:xfrm>
        </p:spPr>
        <p:txBody>
          <a:bodyPr/>
          <a:lstStyle/>
          <a:p>
            <a:pPr algn="ctr"/>
            <a:br>
              <a:rPr lang="en-US" altLang="en-US" sz="4000" dirty="0">
                <a:ea typeface="ＭＳ Ｐゴシック" panose="020B0600070205080204" pitchFamily="34" charset="-128"/>
                <a:cs typeface="ＭＳ Ｐゴシック" panose="020B0600070205080204" pitchFamily="34" charset="-128"/>
              </a:rPr>
            </a:br>
            <a:r>
              <a:rPr lang="en-US" altLang="en-US" sz="4000" dirty="0">
                <a:ea typeface="ＭＳ Ｐゴシック" panose="020B0600070205080204" pitchFamily="34" charset="-128"/>
                <a:cs typeface="ＭＳ Ｐゴシック" panose="020B0600070205080204" pitchFamily="34" charset="-128"/>
              </a:rPr>
              <a:t>What is Your Responsibility?</a:t>
            </a:r>
            <a:br>
              <a:rPr lang="en-US" altLang="en-US" sz="2400" dirty="0">
                <a:ea typeface="ＭＳ Ｐゴシック" panose="020B0600070205080204" pitchFamily="34" charset="-128"/>
                <a:cs typeface="ＭＳ Ｐゴシック" panose="020B0600070205080204" pitchFamily="34" charset="-128"/>
              </a:rPr>
            </a:b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914400" y="1295400"/>
            <a:ext cx="7620000" cy="5105400"/>
          </a:xfrm>
        </p:spPr>
        <p:txBody>
          <a:bodyPr/>
          <a:lstStyle/>
          <a:p>
            <a:pPr marL="0" indent="0">
              <a:buNone/>
              <a:defRPr/>
            </a:pPr>
            <a:r>
              <a:rPr lang="en-US" altLang="en-US" dirty="0">
                <a:ea typeface="ＭＳ Ｐゴシック" panose="020B0600070205080204" pitchFamily="34" charset="-128"/>
                <a:cs typeface="ＭＳ Ｐゴシック" panose="020B0600070205080204" pitchFamily="34" charset="-128"/>
              </a:rPr>
              <a:t>Advanced Senior Level/Graduate Class:  </a:t>
            </a:r>
          </a:p>
          <a:p>
            <a:pPr marL="0" indent="0">
              <a:buNone/>
              <a:defRPr/>
            </a:pPr>
            <a:r>
              <a:rPr lang="en-US" altLang="en-US" dirty="0">
                <a:ea typeface="ＭＳ Ｐゴシック" panose="020B0600070205080204" pitchFamily="34" charset="-128"/>
                <a:cs typeface="ＭＳ Ｐゴシック" panose="020B0600070205080204" pitchFamily="34" charset="-128"/>
              </a:rPr>
              <a:t>	</a:t>
            </a:r>
            <a:r>
              <a:rPr lang="en-US" altLang="en-US" sz="2400" dirty="0">
                <a:ea typeface="ＭＳ Ｐゴシック" panose="020B0600070205080204" pitchFamily="34" charset="-128"/>
                <a:cs typeface="ＭＳ Ｐゴシック" panose="020B0600070205080204" pitchFamily="34" charset="-128"/>
              </a:rPr>
              <a:t>Topics and technologies continue to develop.   </a:t>
            </a:r>
          </a:p>
          <a:p>
            <a:pPr marL="0" indent="0">
              <a:buNone/>
              <a:defRPr/>
            </a:pPr>
            <a:r>
              <a:rPr lang="en-US" altLang="en-US" sz="2400" dirty="0">
                <a:ea typeface="ＭＳ Ｐゴシック" panose="020B0600070205080204" pitchFamily="34" charset="-128"/>
                <a:cs typeface="ＭＳ Ｐゴシック" panose="020B0600070205080204" pitchFamily="34" charset="-128"/>
              </a:rPr>
              <a:t>	Materials are from Conferences/Journals and 	not textbooks</a:t>
            </a:r>
            <a:r>
              <a:rPr lang="en-US" altLang="en-US" dirty="0">
                <a:ea typeface="ＭＳ Ｐゴシック" panose="020B0600070205080204" pitchFamily="34" charset="-128"/>
                <a:cs typeface="ＭＳ Ｐゴシック" panose="020B0600070205080204" pitchFamily="34" charset="-128"/>
              </a:rPr>
              <a:t>.</a:t>
            </a:r>
          </a:p>
          <a:p>
            <a:pPr marL="0" indent="0">
              <a:buNone/>
              <a:defRPr/>
            </a:pPr>
            <a:r>
              <a:rPr lang="en-US" altLang="en-US" dirty="0">
                <a:ea typeface="ＭＳ Ｐゴシック" panose="020B0600070205080204" pitchFamily="34" charset="-128"/>
                <a:cs typeface="ＭＳ Ｐゴシック" panose="020B0600070205080204" pitchFamily="34" charset="-128"/>
              </a:rPr>
              <a:t>How to be successful in this class</a:t>
            </a:r>
          </a:p>
          <a:p>
            <a:pPr marL="0" indent="0">
              <a:buNone/>
              <a:defRPr/>
            </a:pPr>
            <a:r>
              <a:rPr lang="en-US" altLang="en-US" dirty="0">
                <a:ea typeface="ＭＳ Ｐゴシック" panose="020B0600070205080204" pitchFamily="34" charset="-128"/>
                <a:cs typeface="ＭＳ Ｐゴシック" panose="020B0600070205080204" pitchFamily="34" charset="-128"/>
              </a:rPr>
              <a:t>-</a:t>
            </a:r>
            <a:r>
              <a:rPr lang="en-US" altLang="en-US" i="1" dirty="0">
                <a:ea typeface="ＭＳ Ｐゴシック" panose="020B0600070205080204" pitchFamily="34" charset="-128"/>
                <a:cs typeface="ＭＳ Ｐゴシック" panose="020B0600070205080204" pitchFamily="34" charset="-128"/>
              </a:rPr>
              <a:t>Attend Class!</a:t>
            </a:r>
          </a:p>
          <a:p>
            <a:pPr marL="0" indent="0">
              <a:buNone/>
              <a:defRPr/>
            </a:pPr>
            <a:r>
              <a:rPr lang="en-US" altLang="en-US" dirty="0">
                <a:ea typeface="ＭＳ Ｐゴシック" panose="020B0600070205080204" pitchFamily="34" charset="-128"/>
                <a:cs typeface="ＭＳ Ｐゴシック" panose="020B0600070205080204" pitchFamily="34" charset="-128"/>
              </a:rPr>
              <a:t>-Read papers before we discuss in class</a:t>
            </a:r>
          </a:p>
          <a:p>
            <a:pPr marL="0" indent="0">
              <a:buNone/>
              <a:defRPr/>
            </a:pPr>
            <a:r>
              <a:rPr lang="en-US" altLang="en-US" i="1" dirty="0">
                <a:ea typeface="ＭＳ Ｐゴシック" panose="020B0600070205080204" pitchFamily="34" charset="-128"/>
                <a:cs typeface="ＭＳ Ｐゴシック" panose="020B0600070205080204" pitchFamily="34" charset="-128"/>
              </a:rPr>
              <a:t>-Attend class!</a:t>
            </a:r>
          </a:p>
          <a:p>
            <a:pPr marL="0" indent="0">
              <a:buNone/>
              <a:defRPr/>
            </a:pPr>
            <a:r>
              <a:rPr lang="en-US" altLang="en-US" dirty="0">
                <a:ea typeface="ＭＳ Ｐゴシック" panose="020B0600070205080204" pitchFamily="34" charset="-128"/>
                <a:cs typeface="ＭＳ Ｐゴシック" panose="020B0600070205080204" pitchFamily="34" charset="-128"/>
              </a:rPr>
              <a:t>-Come prepared to engage in discussions</a:t>
            </a:r>
          </a:p>
          <a:p>
            <a:pPr marL="0" indent="0">
              <a:buNone/>
              <a:defRPr/>
            </a:pPr>
            <a:r>
              <a:rPr lang="en-US" altLang="en-US" dirty="0">
                <a:ea typeface="ＭＳ Ｐゴシック" panose="020B0600070205080204" pitchFamily="34" charset="-128"/>
                <a:cs typeface="ＭＳ Ｐゴシック" panose="020B0600070205080204" pitchFamily="34" charset="-128"/>
              </a:rPr>
              <a:t>-</a:t>
            </a:r>
            <a:r>
              <a:rPr lang="en-US" altLang="en-US" i="1" dirty="0">
                <a:ea typeface="ＭＳ Ｐゴシック" panose="020B0600070205080204" pitchFamily="34" charset="-128"/>
                <a:cs typeface="ＭＳ Ｐゴシック" panose="020B0600070205080204" pitchFamily="34" charset="-128"/>
              </a:rPr>
              <a:t>Attend Class!</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extLst>
      <p:ext uri="{BB962C8B-B14F-4D97-AF65-F5344CB8AC3E}">
        <p14:creationId xmlns:p14="http://schemas.microsoft.com/office/powerpoint/2010/main" val="732460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Title 1">
            <a:extLst>
              <a:ext uri="{FF2B5EF4-FFF2-40B4-BE49-F238E27FC236}">
                <a16:creationId xmlns:a16="http://schemas.microsoft.com/office/drawing/2014/main" id="{605803DD-7250-C5B2-35C3-ED4F55DC1EB9}"/>
              </a:ext>
            </a:extLst>
          </p:cNvPr>
          <p:cNvSpPr>
            <a:spLocks noGrp="1" noChangeArrowheads="1"/>
          </p:cNvSpPr>
          <p:nvPr>
            <p:ph type="title"/>
          </p:nvPr>
        </p:nvSpPr>
        <p:spPr>
          <a:xfrm>
            <a:off x="522890" y="685800"/>
            <a:ext cx="8229600" cy="838200"/>
          </a:xfrm>
        </p:spPr>
        <p:txBody>
          <a:bodyPr/>
          <a:lstStyle/>
          <a:p>
            <a:pPr algn="ctr"/>
            <a:br>
              <a:rPr lang="en-US" altLang="en-US" sz="4000" dirty="0">
                <a:ea typeface="ＭＳ Ｐゴシック" panose="020B0600070205080204" pitchFamily="34" charset="-128"/>
                <a:cs typeface="ＭＳ Ｐゴシック" panose="020B0600070205080204" pitchFamily="34" charset="-128"/>
              </a:rPr>
            </a:br>
            <a:r>
              <a:rPr lang="en-US" altLang="en-US" sz="4000" dirty="0">
                <a:ea typeface="ＭＳ Ｐゴシック" panose="020B0600070205080204" pitchFamily="34" charset="-128"/>
                <a:cs typeface="ＭＳ Ｐゴシック" panose="020B0600070205080204" pitchFamily="34" charset="-128"/>
              </a:rPr>
              <a:t>How will you be graded ?</a:t>
            </a:r>
            <a:br>
              <a:rPr lang="en-US" altLang="en-US" sz="2400" dirty="0">
                <a:ea typeface="ＭＳ Ｐゴシック" panose="020B0600070205080204" pitchFamily="34" charset="-128"/>
                <a:cs typeface="ＭＳ Ｐゴシック" panose="020B0600070205080204" pitchFamily="34" charset="-128"/>
              </a:rPr>
            </a:br>
            <a:br>
              <a:rPr lang="en-US" altLang="en-US" dirty="0">
                <a:ea typeface="ＭＳ Ｐゴシック" panose="020B0600070205080204" pitchFamily="34" charset="-128"/>
                <a:cs typeface="ＭＳ Ｐゴシック" panose="020B0600070205080204" pitchFamily="34" charset="-128"/>
              </a:rPr>
            </a:br>
            <a:endParaRPr lang="en-US" altLang="en-US" dirty="0">
              <a:ea typeface="ＭＳ Ｐゴシック" panose="020B0600070205080204" pitchFamily="34" charset="-128"/>
              <a:cs typeface="ＭＳ Ｐゴシック" panose="020B0600070205080204" pitchFamily="34" charset="-128"/>
            </a:endParaRPr>
          </a:p>
        </p:txBody>
      </p:sp>
      <p:sp>
        <p:nvSpPr>
          <p:cNvPr id="5122" name="Content Placeholder 2">
            <a:extLst>
              <a:ext uri="{FF2B5EF4-FFF2-40B4-BE49-F238E27FC236}">
                <a16:creationId xmlns:a16="http://schemas.microsoft.com/office/drawing/2014/main" id="{C083C894-92F8-01DB-F45F-4394DE831F3D}"/>
              </a:ext>
            </a:extLst>
          </p:cNvPr>
          <p:cNvSpPr>
            <a:spLocks noGrp="1" noChangeArrowheads="1"/>
          </p:cNvSpPr>
          <p:nvPr>
            <p:ph idx="1"/>
          </p:nvPr>
        </p:nvSpPr>
        <p:spPr>
          <a:xfrm>
            <a:off x="2209800" y="1600200"/>
            <a:ext cx="5181600" cy="4572000"/>
          </a:xfrm>
        </p:spPr>
        <p:txBody>
          <a:bodyPr/>
          <a:lstStyle/>
          <a:p>
            <a:pPr marL="0" indent="0">
              <a:buNone/>
              <a:defRPr/>
            </a:pPr>
            <a:r>
              <a:rPr lang="en-US" altLang="en-US" dirty="0">
                <a:ea typeface="ＭＳ Ｐゴシック" panose="020B0600070205080204" pitchFamily="34" charset="-128"/>
                <a:cs typeface="ＭＳ Ｐゴシック" panose="020B0600070205080204" pitchFamily="34" charset="-128"/>
              </a:rPr>
              <a:t>Group Presentations:	30%</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r>
              <a:rPr lang="en-US" altLang="en-US" dirty="0">
                <a:ea typeface="ＭＳ Ｐゴシック" panose="020B0600070205080204" pitchFamily="34" charset="-128"/>
                <a:cs typeface="ＭＳ Ｐゴシック" panose="020B0600070205080204" pitchFamily="34" charset="-128"/>
              </a:rPr>
              <a:t>Quizzes:			30%</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r>
              <a:rPr lang="en-US" altLang="en-US" dirty="0">
                <a:ea typeface="ＭＳ Ｐゴシック" panose="020B0600070205080204" pitchFamily="34" charset="-128"/>
                <a:cs typeface="ＭＳ Ｐゴシック" panose="020B0600070205080204" pitchFamily="34" charset="-128"/>
              </a:rPr>
              <a:t>Class Participation:	10%</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marL="0" indent="0">
              <a:buNone/>
              <a:defRPr/>
            </a:pPr>
            <a:r>
              <a:rPr lang="en-US" altLang="en-US" dirty="0">
                <a:ea typeface="ＭＳ Ｐゴシック" panose="020B0600070205080204" pitchFamily="34" charset="-128"/>
                <a:cs typeface="ＭＳ Ｐゴシック" panose="020B0600070205080204" pitchFamily="34" charset="-128"/>
              </a:rPr>
              <a:t>Final Project:		30%</a:t>
            </a:r>
          </a:p>
          <a:p>
            <a:pPr marL="0" indent="0">
              <a:buNone/>
              <a:defRPr/>
            </a:pPr>
            <a:endParaRPr lang="en-US" altLang="en-US" dirty="0">
              <a:ea typeface="ＭＳ Ｐゴシック" panose="020B0600070205080204" pitchFamily="34" charset="-128"/>
              <a:cs typeface="ＭＳ Ｐゴシック" panose="020B0600070205080204" pitchFamily="34" charset="-128"/>
            </a:endParaRPr>
          </a:p>
          <a:p>
            <a:pPr>
              <a:defRPr/>
            </a:pPr>
            <a:endParaRPr lang="en-US" altLang="en-US" dirty="0">
              <a:ea typeface="ＭＳ Ｐゴシック" panose="020B0600070205080204" pitchFamily="34" charset="-128"/>
              <a:cs typeface="ＭＳ Ｐゴシック" panose="020B0600070205080204" pitchFamily="34" charset="-128"/>
            </a:endParaRPr>
          </a:p>
        </p:txBody>
      </p:sp>
    </p:spTree>
    <p:extLst>
      <p:ext uri="{BB962C8B-B14F-4D97-AF65-F5344CB8AC3E}">
        <p14:creationId xmlns:p14="http://schemas.microsoft.com/office/powerpoint/2010/main" val="2233004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EF9A3F-AD56-5D68-DF5F-9EE3B93222BA}"/>
              </a:ext>
            </a:extLst>
          </p:cNvPr>
          <p:cNvSpPr>
            <a:spLocks noGrp="1"/>
          </p:cNvSpPr>
          <p:nvPr>
            <p:ph type="title"/>
          </p:nvPr>
        </p:nvSpPr>
        <p:spPr/>
        <p:txBody>
          <a:bodyPr/>
          <a:lstStyle/>
          <a:p>
            <a:r>
              <a:rPr lang="en-US" dirty="0"/>
              <a:t>Final Comments</a:t>
            </a:r>
          </a:p>
        </p:txBody>
      </p:sp>
      <p:sp>
        <p:nvSpPr>
          <p:cNvPr id="3" name="Content Placeholder 2">
            <a:extLst>
              <a:ext uri="{FF2B5EF4-FFF2-40B4-BE49-F238E27FC236}">
                <a16:creationId xmlns:a16="http://schemas.microsoft.com/office/drawing/2014/main" id="{F30CDD54-95A5-992E-DC07-71E6C8C2F381}"/>
              </a:ext>
            </a:extLst>
          </p:cNvPr>
          <p:cNvSpPr>
            <a:spLocks noGrp="1"/>
          </p:cNvSpPr>
          <p:nvPr>
            <p:ph idx="1"/>
          </p:nvPr>
        </p:nvSpPr>
        <p:spPr>
          <a:xfrm>
            <a:off x="762000" y="1371600"/>
            <a:ext cx="7696200" cy="4572000"/>
          </a:xfrm>
        </p:spPr>
        <p:txBody>
          <a:bodyPr/>
          <a:lstStyle/>
          <a:p>
            <a:pPr marL="0" indent="0">
              <a:buNone/>
            </a:pPr>
            <a:r>
              <a:rPr lang="en-US" sz="2400" dirty="0"/>
              <a:t>I am not your mother, RA, or personal trainer.  You will get out of the class what you put in. The more you put in the more you will get out. The less you put in the less you will get out. If you want motivation look at job opportunities and starting salaries for grads with AI and hardware design experience…..</a:t>
            </a:r>
          </a:p>
          <a:p>
            <a:pPr marL="0" indent="0">
              <a:buNone/>
            </a:pPr>
            <a:endParaRPr lang="en-US" sz="2400" dirty="0"/>
          </a:p>
          <a:p>
            <a:pPr marL="0" indent="0">
              <a:buNone/>
            </a:pPr>
            <a:endParaRPr lang="en-US" sz="2400" dirty="0"/>
          </a:p>
          <a:p>
            <a:pPr marL="0" indent="0">
              <a:buNone/>
            </a:pPr>
            <a:r>
              <a:rPr lang="en-US" sz="2400" dirty="0"/>
              <a:t>I believe technology should be fun ! Lets</a:t>
            </a:r>
          </a:p>
          <a:p>
            <a:pPr marL="0" indent="0">
              <a:buNone/>
            </a:pPr>
            <a:r>
              <a:rPr lang="en-US" sz="2400" dirty="0"/>
              <a:t>prepare you for the future while having fun doing it!</a:t>
            </a:r>
          </a:p>
        </p:txBody>
      </p:sp>
    </p:spTree>
    <p:extLst>
      <p:ext uri="{BB962C8B-B14F-4D97-AF65-F5344CB8AC3E}">
        <p14:creationId xmlns:p14="http://schemas.microsoft.com/office/powerpoint/2010/main" val="618688733"/>
      </p:ext>
    </p:extLst>
  </p:cSld>
  <p:clrMapOvr>
    <a:masterClrMapping/>
  </p:clrMapOvr>
</p:sld>
</file>

<file path=ppt/theme/theme1.xml><?xml version="1.0" encoding="utf-8"?>
<a:theme xmlns:a="http://schemas.openxmlformats.org/drawingml/2006/main" name="Uark">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Uark">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raClrScheme>
      <a:clrScheme name="Uark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Uark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Uark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Uark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Uark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Uark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Uark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Macintosh HD:Applications:Microsoft Office X:Templates:My Templates:Uark.pot</Template>
  <TotalTime>17441</TotalTime>
  <Words>785</Words>
  <Application>Microsoft Macintosh PowerPoint</Application>
  <PresentationFormat>On-screen Show (4:3)</PresentationFormat>
  <Paragraphs>136</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Comic Sans MS</vt:lpstr>
      <vt:lpstr>Times New Roman</vt:lpstr>
      <vt:lpstr>Uark</vt:lpstr>
      <vt:lpstr>Domain Specific Architectures CSCE 4013/5013</vt:lpstr>
      <vt:lpstr>Course Overview</vt:lpstr>
      <vt:lpstr>What is a Domain Specific Architecture ? </vt:lpstr>
      <vt:lpstr>What is a Domain Specific Architecture ? </vt:lpstr>
      <vt:lpstr>What is a Domain Specific Architecture ? </vt:lpstr>
      <vt:lpstr>What is a Domain Specific Architecture ? </vt:lpstr>
      <vt:lpstr>How Important is Memory Design? </vt:lpstr>
      <vt:lpstr>Accelerator Costs </vt:lpstr>
      <vt:lpstr> The Big Three:  </vt:lpstr>
      <vt:lpstr> What will we study ?  </vt:lpstr>
      <vt:lpstr> What is Your Responsibility?  </vt:lpstr>
      <vt:lpstr> How will you be graded ?  </vt:lpstr>
      <vt:lpstr>Final Comments</vt:lpstr>
    </vt:vector>
  </TitlesOfParts>
  <Company>university of kansas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Computer Architecture</dc:title>
  <dc:creator>dandrews</dc:creator>
  <cp:lastModifiedBy>David Andrews</cp:lastModifiedBy>
  <cp:revision>133</cp:revision>
  <dcterms:created xsi:type="dcterms:W3CDTF">2017-01-17T21:56:44Z</dcterms:created>
  <dcterms:modified xsi:type="dcterms:W3CDTF">2026-01-09T17:20:08Z</dcterms:modified>
</cp:coreProperties>
</file>